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73" r:id="rId4"/>
    <p:sldId id="272" r:id="rId5"/>
    <p:sldId id="270" r:id="rId6"/>
    <p:sldId id="271" r:id="rId7"/>
    <p:sldId id="274" r:id="rId8"/>
    <p:sldId id="276" r:id="rId9"/>
    <p:sldId id="275" r:id="rId10"/>
    <p:sldId id="257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2801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 i="0">
                <a:solidFill>
                  <a:srgbClr val="FFFFFF"/>
                </a:solidFill>
                <a:latin typeface="Inter"/>
              </a:defRPr>
            </a:pPr>
            <a:r>
              <a:t>ELIOS SCOGLIO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A78BFA"/>
                </a:solidFill>
                <a:latin typeface="Inter"/>
              </a:defRPr>
            </a:pPr>
            <a:r>
              <a:t>Software &amp; Architecture Manager  |  Fractional 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063240"/>
            <a:ext cx="292608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337560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E2E8F0"/>
                </a:solidFill>
                <a:latin typeface="Inter"/>
              </a:defRPr>
            </a:pPr>
            <a:r>
              <a:rPr dirty="0" err="1"/>
              <a:t>Proposta</a:t>
            </a:r>
            <a:r>
              <a:rPr dirty="0"/>
              <a:t>— </a:t>
            </a:r>
            <a:r>
              <a:rPr dirty="0" err="1"/>
              <a:t>Veralab</a:t>
            </a:r>
            <a:r>
              <a:rPr dirty="0"/>
              <a:t> / Re-</a:t>
            </a:r>
            <a:r>
              <a:rPr dirty="0" err="1"/>
              <a:t>Forme</a:t>
            </a:r>
            <a:r>
              <a:rPr dirty="0"/>
              <a:t> SRL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E2E8F0"/>
                </a:solidFill>
                <a:latin typeface="Inter"/>
              </a:defRPr>
            </a:pPr>
            <a:r>
              <a:rPr dirty="0"/>
              <a:t>Ho </a:t>
            </a:r>
            <a:r>
              <a:rPr dirty="0" err="1"/>
              <a:t>analizzato</a:t>
            </a:r>
            <a:r>
              <a:rPr dirty="0"/>
              <a:t> il vostro stack prima di </a:t>
            </a:r>
            <a:r>
              <a:rPr dirty="0" err="1"/>
              <a:t>scrivervi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Inter"/>
              </a:defRPr>
            </a:pPr>
            <a:r>
              <a:t>108 Vision — Costruiamo la direzione, non solo il codice.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6CE1C-C3C2-D8B9-3583-4EE04D604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1">
            <a:extLst>
              <a:ext uri="{FF2B5EF4-FFF2-40B4-BE49-F238E27FC236}">
                <a16:creationId xmlns:a16="http://schemas.microsoft.com/office/drawing/2014/main" id="{24F1514A-715D-EE6A-367B-33465D2EDE58}"/>
              </a:ext>
            </a:extLst>
          </p:cNvPr>
          <p:cNvSpPr txBox="1"/>
          <p:nvPr/>
        </p:nvSpPr>
        <p:spPr>
          <a:xfrm>
            <a:off x="914400" y="54864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rPr dirty="0"/>
              <a:t>108 Vision</a:t>
            </a:r>
          </a:p>
        </p:txBody>
      </p:sp>
      <p:sp>
        <p:nvSpPr>
          <p:cNvPr id="50" name="Rectangle 2">
            <a:extLst>
              <a:ext uri="{FF2B5EF4-FFF2-40B4-BE49-F238E27FC236}">
                <a16:creationId xmlns:a16="http://schemas.microsoft.com/office/drawing/2014/main" id="{8FB43210-29D7-8DAC-C7CD-C78F7DFEE209}"/>
              </a:ext>
            </a:extLst>
          </p:cNvPr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3">
            <a:extLst>
              <a:ext uri="{FF2B5EF4-FFF2-40B4-BE49-F238E27FC236}">
                <a16:creationId xmlns:a16="http://schemas.microsoft.com/office/drawing/2014/main" id="{7C35BA7E-296F-2AB9-B049-EED089153121}"/>
              </a:ext>
            </a:extLst>
          </p:cNvPr>
          <p:cNvSpPr txBox="1"/>
          <p:nvPr/>
        </p:nvSpPr>
        <p:spPr>
          <a:xfrm>
            <a:off x="109728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25 anni di esperienza su sistemi in produzione. Risultati misurati, non promessi.</a:t>
            </a:r>
          </a:p>
        </p:txBody>
      </p:sp>
      <p:sp>
        <p:nvSpPr>
          <p:cNvPr id="54" name="TextBox 4">
            <a:extLst>
              <a:ext uri="{FF2B5EF4-FFF2-40B4-BE49-F238E27FC236}">
                <a16:creationId xmlns:a16="http://schemas.microsoft.com/office/drawing/2014/main" id="{4790B8F0-FA29-EFAF-606E-A88CFF023CDA}"/>
              </a:ext>
            </a:extLst>
          </p:cNvPr>
          <p:cNvSpPr txBox="1"/>
          <p:nvPr/>
        </p:nvSpPr>
        <p:spPr>
          <a:xfrm>
            <a:off x="109728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Inter"/>
              </a:defRPr>
            </a:pPr>
            <a:r>
              <a:t>COSA ABBIAMO FATTO</a:t>
            </a:r>
          </a:p>
        </p:txBody>
      </p:sp>
      <p:sp>
        <p:nvSpPr>
          <p:cNvPr id="56" name="TextBox 5">
            <a:extLst>
              <a:ext uri="{FF2B5EF4-FFF2-40B4-BE49-F238E27FC236}">
                <a16:creationId xmlns:a16="http://schemas.microsoft.com/office/drawing/2014/main" id="{3F3667DA-AF05-3861-234B-3E566C590A1C}"/>
              </a:ext>
            </a:extLst>
          </p:cNvPr>
          <p:cNvSpPr txBox="1"/>
          <p:nvPr/>
        </p:nvSpPr>
        <p:spPr>
          <a:xfrm>
            <a:off x="1097280" y="2743200"/>
            <a:ext cx="5303520" cy="318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endParaRPr dirty="0"/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rPr dirty="0"/>
              <a:t>→  </a:t>
            </a:r>
            <a:r>
              <a:rPr dirty="0" err="1"/>
              <a:t>Piattaforma</a:t>
            </a:r>
            <a:r>
              <a:rPr dirty="0"/>
              <a:t> </a:t>
            </a:r>
            <a:r>
              <a:rPr dirty="0" err="1"/>
              <a:t>immobiliare</a:t>
            </a:r>
            <a:r>
              <a:rPr dirty="0"/>
              <a:t> </a:t>
            </a:r>
            <a:r>
              <a:rPr dirty="0" err="1"/>
              <a:t>nazionale</a:t>
            </a:r>
            <a:r>
              <a:rPr dirty="0"/>
              <a:t> — refactoring </a:t>
            </a:r>
            <a:r>
              <a:rPr dirty="0" err="1"/>
              <a:t>completo</a:t>
            </a:r>
            <a:r>
              <a:rPr dirty="0"/>
              <a:t> 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rPr dirty="0"/>
              <a:t>→  Cloud provider enterprise — </a:t>
            </a:r>
            <a:r>
              <a:rPr dirty="0" err="1"/>
              <a:t>trasformazione</a:t>
            </a:r>
            <a:r>
              <a:rPr dirty="0"/>
              <a:t> </a:t>
            </a:r>
            <a:r>
              <a:rPr dirty="0" err="1"/>
              <a:t>qualita</a:t>
            </a:r>
            <a:r>
              <a:rPr dirty="0"/>
              <a:t> e </a:t>
            </a:r>
            <a:r>
              <a:rPr dirty="0" err="1"/>
              <a:t>rilascio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larga</a:t>
            </a:r>
            <a:r>
              <a:rPr dirty="0"/>
              <a:t> scala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rPr dirty="0"/>
              <a:t>→  </a:t>
            </a:r>
            <a:r>
              <a:rPr dirty="0" err="1"/>
              <a:t>Piattaforma</a:t>
            </a:r>
            <a:r>
              <a:rPr dirty="0"/>
              <a:t> ticketing 30M </a:t>
            </a:r>
            <a:r>
              <a:rPr dirty="0" err="1"/>
              <a:t>transazioni</a:t>
            </a:r>
            <a:r>
              <a:rPr dirty="0"/>
              <a:t>/anno — governance </a:t>
            </a:r>
            <a:r>
              <a:rPr dirty="0" err="1"/>
              <a:t>architetturale</a:t>
            </a:r>
            <a:r>
              <a:rPr dirty="0"/>
              <a:t>, 93 </a:t>
            </a:r>
            <a:r>
              <a:rPr dirty="0" err="1"/>
              <a:t>componenti</a:t>
            </a:r>
            <a:r>
              <a:rPr dirty="0"/>
              <a:t>, 3 team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rPr dirty="0"/>
              <a:t>→  Compliance mission-critical — </a:t>
            </a:r>
            <a:r>
              <a:rPr dirty="0" err="1"/>
              <a:t>fiscale</a:t>
            </a:r>
            <a:r>
              <a:rPr dirty="0"/>
              <a:t>, </a:t>
            </a:r>
            <a:r>
              <a:rPr dirty="0" err="1"/>
              <a:t>Polizia</a:t>
            </a:r>
            <a:r>
              <a:rPr dirty="0"/>
              <a:t> di Stato, GDPR, PCI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rPr dirty="0"/>
              <a:t>→  Legacy modernization — </a:t>
            </a:r>
            <a:r>
              <a:rPr dirty="0" err="1"/>
              <a:t>sistema</a:t>
            </a:r>
            <a:r>
              <a:rPr dirty="0"/>
              <a:t> 23 anni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rPr dirty="0"/>
              <a:t>→  AI adoption </a:t>
            </a:r>
            <a:r>
              <a:rPr dirty="0" err="1"/>
              <a:t>pragmatica</a:t>
            </a:r>
            <a:r>
              <a:rPr dirty="0"/>
              <a:t> — </a:t>
            </a:r>
            <a:r>
              <a:rPr dirty="0" err="1"/>
              <a:t>integrata</a:t>
            </a:r>
            <a:r>
              <a:rPr dirty="0"/>
              <a:t>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ciclo</a:t>
            </a:r>
            <a:r>
              <a:rPr dirty="0"/>
              <a:t> di </a:t>
            </a:r>
            <a:r>
              <a:rPr dirty="0" err="1"/>
              <a:t>sviluppo</a:t>
            </a:r>
            <a:r>
              <a:rPr dirty="0"/>
              <a:t> con ROI </a:t>
            </a:r>
            <a:r>
              <a:rPr dirty="0" err="1"/>
              <a:t>dimostrato</a:t>
            </a:r>
            <a:endParaRPr lang="it-IT" dirty="0"/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rPr lang="it-IT" dirty="0"/>
              <a:t>→ Mobile</a:t>
            </a:r>
            <a:endParaRPr dirty="0"/>
          </a:p>
        </p:txBody>
      </p:sp>
      <p:sp>
        <p:nvSpPr>
          <p:cNvPr id="58" name="TextBox 6">
            <a:extLst>
              <a:ext uri="{FF2B5EF4-FFF2-40B4-BE49-F238E27FC236}">
                <a16:creationId xmlns:a16="http://schemas.microsoft.com/office/drawing/2014/main" id="{5D845291-B04D-D3B0-ECE8-6FF13F14011E}"/>
              </a:ext>
            </a:extLst>
          </p:cNvPr>
          <p:cNvSpPr txBox="1"/>
          <p:nvPr/>
        </p:nvSpPr>
        <p:spPr>
          <a:xfrm>
            <a:off x="68580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Inter"/>
              </a:defRPr>
            </a:pPr>
            <a:r>
              <a:t>RISULTATI MISURATI</a:t>
            </a:r>
          </a:p>
        </p:txBody>
      </p:sp>
      <p:sp>
        <p:nvSpPr>
          <p:cNvPr id="60" name="TextBox 7">
            <a:extLst>
              <a:ext uri="{FF2B5EF4-FFF2-40B4-BE49-F238E27FC236}">
                <a16:creationId xmlns:a16="http://schemas.microsoft.com/office/drawing/2014/main" id="{AA2B01BB-54BB-6827-21E1-5E2358CB8731}"/>
              </a:ext>
            </a:extLst>
          </p:cNvPr>
          <p:cNvSpPr txBox="1"/>
          <p:nvPr/>
        </p:nvSpPr>
        <p:spPr>
          <a:xfrm>
            <a:off x="685800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Lead time</a:t>
            </a:r>
          </a:p>
        </p:txBody>
      </p:sp>
      <p:sp>
        <p:nvSpPr>
          <p:cNvPr id="62" name="TextBox 8">
            <a:extLst>
              <a:ext uri="{FF2B5EF4-FFF2-40B4-BE49-F238E27FC236}">
                <a16:creationId xmlns:a16="http://schemas.microsoft.com/office/drawing/2014/main" id="{D2850428-6A56-328C-EB6D-B53AB036D8CC}"/>
              </a:ext>
            </a:extLst>
          </p:cNvPr>
          <p:cNvSpPr txBox="1"/>
          <p:nvPr/>
        </p:nvSpPr>
        <p:spPr>
          <a:xfrm>
            <a:off x="960120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-60%</a:t>
            </a:r>
          </a:p>
        </p:txBody>
      </p:sp>
      <p:sp>
        <p:nvSpPr>
          <p:cNvPr id="64" name="TextBox 9">
            <a:extLst>
              <a:ext uri="{FF2B5EF4-FFF2-40B4-BE49-F238E27FC236}">
                <a16:creationId xmlns:a16="http://schemas.microsoft.com/office/drawing/2014/main" id="{DB162C95-E8D8-E0DA-6CC9-1E929BF0AE31}"/>
              </a:ext>
            </a:extLst>
          </p:cNvPr>
          <p:cNvSpPr txBox="1"/>
          <p:nvPr/>
        </p:nvSpPr>
        <p:spPr>
          <a:xfrm>
            <a:off x="68580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Bug rate</a:t>
            </a:r>
          </a:p>
        </p:txBody>
      </p:sp>
      <p:sp>
        <p:nvSpPr>
          <p:cNvPr id="66" name="TextBox 10">
            <a:extLst>
              <a:ext uri="{FF2B5EF4-FFF2-40B4-BE49-F238E27FC236}">
                <a16:creationId xmlns:a16="http://schemas.microsoft.com/office/drawing/2014/main" id="{0F4960B8-1F09-26DC-B0C6-3C945B8B749D}"/>
              </a:ext>
            </a:extLst>
          </p:cNvPr>
          <p:cNvSpPr txBox="1"/>
          <p:nvPr/>
        </p:nvSpPr>
        <p:spPr>
          <a:xfrm>
            <a:off x="96012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-98%</a:t>
            </a:r>
          </a:p>
        </p:txBody>
      </p:sp>
      <p:sp>
        <p:nvSpPr>
          <p:cNvPr id="68" name="TextBox 11">
            <a:extLst>
              <a:ext uri="{FF2B5EF4-FFF2-40B4-BE49-F238E27FC236}">
                <a16:creationId xmlns:a16="http://schemas.microsoft.com/office/drawing/2014/main" id="{2B2AF30C-FEA6-C9DD-BA09-659FC62907BD}"/>
              </a:ext>
            </a:extLst>
          </p:cNvPr>
          <p:cNvSpPr txBox="1"/>
          <p:nvPr/>
        </p:nvSpPr>
        <p:spPr>
          <a:xfrm>
            <a:off x="68580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Deploy frequency</a:t>
            </a:r>
          </a:p>
        </p:txBody>
      </p:sp>
      <p:sp>
        <p:nvSpPr>
          <p:cNvPr id="70" name="TextBox 12">
            <a:extLst>
              <a:ext uri="{FF2B5EF4-FFF2-40B4-BE49-F238E27FC236}">
                <a16:creationId xmlns:a16="http://schemas.microsoft.com/office/drawing/2014/main" id="{FD9968A1-76E3-0F49-BB9D-7197B132FFD6}"/>
              </a:ext>
            </a:extLst>
          </p:cNvPr>
          <p:cNvSpPr txBox="1"/>
          <p:nvPr/>
        </p:nvSpPr>
        <p:spPr>
          <a:xfrm>
            <a:off x="960120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+400%</a:t>
            </a:r>
          </a:p>
        </p:txBody>
      </p:sp>
      <p:sp>
        <p:nvSpPr>
          <p:cNvPr id="72" name="TextBox 13">
            <a:extLst>
              <a:ext uri="{FF2B5EF4-FFF2-40B4-BE49-F238E27FC236}">
                <a16:creationId xmlns:a16="http://schemas.microsoft.com/office/drawing/2014/main" id="{B219F27A-6E8C-496A-E0BB-372DF58C3D0F}"/>
              </a:ext>
            </a:extLst>
          </p:cNvPr>
          <p:cNvSpPr txBox="1"/>
          <p:nvPr/>
        </p:nvSpPr>
        <p:spPr>
          <a:xfrm>
            <a:off x="68580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Tempo deploy</a:t>
            </a:r>
          </a:p>
        </p:txBody>
      </p:sp>
      <p:sp>
        <p:nvSpPr>
          <p:cNvPr id="74" name="TextBox 14">
            <a:extLst>
              <a:ext uri="{FF2B5EF4-FFF2-40B4-BE49-F238E27FC236}">
                <a16:creationId xmlns:a16="http://schemas.microsoft.com/office/drawing/2014/main" id="{B731C9F9-7173-100A-477A-22EC65D62FD2}"/>
              </a:ext>
            </a:extLst>
          </p:cNvPr>
          <p:cNvSpPr txBox="1"/>
          <p:nvPr/>
        </p:nvSpPr>
        <p:spPr>
          <a:xfrm>
            <a:off x="96012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-91%</a:t>
            </a:r>
          </a:p>
        </p:txBody>
      </p:sp>
      <p:sp>
        <p:nvSpPr>
          <p:cNvPr id="76" name="TextBox 15">
            <a:extLst>
              <a:ext uri="{FF2B5EF4-FFF2-40B4-BE49-F238E27FC236}">
                <a16:creationId xmlns:a16="http://schemas.microsoft.com/office/drawing/2014/main" id="{0259B273-2B1C-C83F-1BB2-2EC3E99A863C}"/>
              </a:ext>
            </a:extLst>
          </p:cNvPr>
          <p:cNvSpPr txBox="1"/>
          <p:nvPr/>
        </p:nvSpPr>
        <p:spPr>
          <a:xfrm>
            <a:off x="685800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Costo sviluppo (AI)</a:t>
            </a:r>
          </a:p>
        </p:txBody>
      </p:sp>
      <p:sp>
        <p:nvSpPr>
          <p:cNvPr id="78" name="TextBox 16">
            <a:extLst>
              <a:ext uri="{FF2B5EF4-FFF2-40B4-BE49-F238E27FC236}">
                <a16:creationId xmlns:a16="http://schemas.microsoft.com/office/drawing/2014/main" id="{6D536CE4-FD5B-E1FA-4801-143007E37294}"/>
              </a:ext>
            </a:extLst>
          </p:cNvPr>
          <p:cNvSpPr txBox="1"/>
          <p:nvPr/>
        </p:nvSpPr>
        <p:spPr>
          <a:xfrm>
            <a:off x="960120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-77%</a:t>
            </a:r>
          </a:p>
        </p:txBody>
      </p:sp>
      <p:sp>
        <p:nvSpPr>
          <p:cNvPr id="80" name="TextBox 17">
            <a:extLst>
              <a:ext uri="{FF2B5EF4-FFF2-40B4-BE49-F238E27FC236}">
                <a16:creationId xmlns:a16="http://schemas.microsoft.com/office/drawing/2014/main" id="{A01E2357-B861-04B8-0223-0F6F7A4907A3}"/>
              </a:ext>
            </a:extLst>
          </p:cNvPr>
          <p:cNvSpPr txBox="1"/>
          <p:nvPr/>
        </p:nvSpPr>
        <p:spPr>
          <a:xfrm>
            <a:off x="68580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Team satisfaction</a:t>
            </a:r>
          </a:p>
        </p:txBody>
      </p:sp>
      <p:sp>
        <p:nvSpPr>
          <p:cNvPr id="82" name="TextBox 18">
            <a:extLst>
              <a:ext uri="{FF2B5EF4-FFF2-40B4-BE49-F238E27FC236}">
                <a16:creationId xmlns:a16="http://schemas.microsoft.com/office/drawing/2014/main" id="{9E69218E-A101-81E5-E02F-3C34DAC4F5E5}"/>
              </a:ext>
            </a:extLst>
          </p:cNvPr>
          <p:cNvSpPr txBox="1"/>
          <p:nvPr/>
        </p:nvSpPr>
        <p:spPr>
          <a:xfrm>
            <a:off x="960120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+50%</a:t>
            </a:r>
          </a:p>
        </p:txBody>
      </p:sp>
      <p:sp>
        <p:nvSpPr>
          <p:cNvPr id="84" name="TextBox 19">
            <a:extLst>
              <a:ext uri="{FF2B5EF4-FFF2-40B4-BE49-F238E27FC236}">
                <a16:creationId xmlns:a16="http://schemas.microsoft.com/office/drawing/2014/main" id="{7D112731-7E4A-FBCD-5F77-F4A08E0F129D}"/>
              </a:ext>
            </a:extLst>
          </p:cNvPr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Costruiamo la direzione, non solo il codice. Il valore e nelle decisioni giuste, non nelle righe scritte.</a:t>
            </a:r>
          </a:p>
        </p:txBody>
      </p:sp>
    </p:spTree>
    <p:extLst>
      <p:ext uri="{BB962C8B-B14F-4D97-AF65-F5344CB8AC3E}">
        <p14:creationId xmlns:p14="http://schemas.microsoft.com/office/powerpoint/2010/main" val="4083085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45F29A-C415-04B6-F579-CDC1F7B7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642FD8C0-59DD-3DC5-E29E-98D680685EA1}"/>
              </a:ext>
            </a:extLst>
          </p:cNvPr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Cosa ho trovato — prima di questa call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2D0E6F7-21E3-E048-C5D4-7957251A1CB6}"/>
              </a:ext>
            </a:extLst>
          </p:cNvPr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3EAFD239-091D-0521-3A2F-78E9717840E0}"/>
              </a:ext>
            </a:extLst>
          </p:cNvPr>
          <p:cNvSpPr txBox="1"/>
          <p:nvPr/>
        </p:nvSpPr>
        <p:spPr>
          <a:xfrm>
            <a:off x="1097280" y="15727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8F0"/>
                </a:solidFill>
                <a:latin typeface="Inter"/>
              </a:defRPr>
            </a:pPr>
            <a:r>
              <a:t>Analisi live su veralab.it con script su endpoint reali — non tool generici.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AAA49E0-3424-7245-9E6E-3E0329E717EB}"/>
              </a:ext>
            </a:extLst>
          </p:cNvPr>
          <p:cNvSpPr txBox="1"/>
          <p:nvPr/>
        </p:nvSpPr>
        <p:spPr>
          <a:xfrm>
            <a:off x="1097280" y="2057400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Finding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05F0E24E-BA85-D3DE-7067-141FE2D0EE5C}"/>
              </a:ext>
            </a:extLst>
          </p:cNvPr>
          <p:cNvSpPr txBox="1"/>
          <p:nvPr/>
        </p:nvSpPr>
        <p:spPr>
          <a:xfrm>
            <a:off x="7132320" y="20574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Severity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56C1EC1A-E93C-4033-3820-23A55AA794F5}"/>
              </a:ext>
            </a:extLst>
          </p:cNvPr>
          <p:cNvSpPr/>
          <p:nvPr/>
        </p:nvSpPr>
        <p:spPr>
          <a:xfrm>
            <a:off x="1097280" y="2377440"/>
            <a:ext cx="100584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8">
            <a:extLst>
              <a:ext uri="{FF2B5EF4-FFF2-40B4-BE49-F238E27FC236}">
                <a16:creationId xmlns:a16="http://schemas.microsoft.com/office/drawing/2014/main" id="{3003C4DC-BEF6-10B2-7D08-7C5FA7F4A65C}"/>
              </a:ext>
            </a:extLst>
          </p:cNvPr>
          <p:cNvSpPr/>
          <p:nvPr/>
        </p:nvSpPr>
        <p:spPr>
          <a:xfrm>
            <a:off x="822959" y="2560320"/>
            <a:ext cx="164592" cy="16459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4C4E9F48-874E-DD85-F1B0-4AA8BDF8B4D9}"/>
              </a:ext>
            </a:extLst>
          </p:cNvPr>
          <p:cNvSpPr txBox="1"/>
          <p:nvPr/>
        </p:nvSpPr>
        <p:spPr>
          <a:xfrm>
            <a:off x="1097280" y="248716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Inter"/>
              </a:defRPr>
            </a:pPr>
            <a:r>
              <a:t>/blogs/news  HTTP 500</a:t>
            </a: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C46489A1-44A9-F3C6-8F05-059ACAB6CAC5}"/>
              </a:ext>
            </a:extLst>
          </p:cNvPr>
          <p:cNvSpPr txBox="1"/>
          <p:nvPr/>
        </p:nvSpPr>
        <p:spPr>
          <a:xfrm>
            <a:off x="7132320" y="24871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87171"/>
                </a:solidFill>
                <a:latin typeface="Inter"/>
              </a:defRPr>
            </a:pPr>
            <a:r>
              <a:t>CRITICO</a:t>
            </a:r>
          </a:p>
        </p:txBody>
      </p:sp>
      <p:sp>
        <p:nvSpPr>
          <p:cNvPr id="21" name="Oval 12">
            <a:extLst>
              <a:ext uri="{FF2B5EF4-FFF2-40B4-BE49-F238E27FC236}">
                <a16:creationId xmlns:a16="http://schemas.microsoft.com/office/drawing/2014/main" id="{C740CC92-B3B0-93F5-0133-EE3CCF844CCE}"/>
              </a:ext>
            </a:extLst>
          </p:cNvPr>
          <p:cNvSpPr/>
          <p:nvPr/>
        </p:nvSpPr>
        <p:spPr>
          <a:xfrm>
            <a:off x="822959" y="3054096"/>
            <a:ext cx="164592" cy="16459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3">
            <a:extLst>
              <a:ext uri="{FF2B5EF4-FFF2-40B4-BE49-F238E27FC236}">
                <a16:creationId xmlns:a16="http://schemas.microsoft.com/office/drawing/2014/main" id="{DDECA90B-B4A6-A5A2-35E0-79550702F67E}"/>
              </a:ext>
            </a:extLst>
          </p:cNvPr>
          <p:cNvSpPr txBox="1"/>
          <p:nvPr/>
        </p:nvSpPr>
        <p:spPr>
          <a:xfrm>
            <a:off x="1097280" y="2980944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Inter"/>
              </a:defRPr>
            </a:pPr>
            <a:r>
              <a:t>Nessun alerting su errori 5xx</a:t>
            </a: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1B887406-10FE-7D2D-47E2-28D914037957}"/>
              </a:ext>
            </a:extLst>
          </p:cNvPr>
          <p:cNvSpPr txBox="1"/>
          <p:nvPr/>
        </p:nvSpPr>
        <p:spPr>
          <a:xfrm>
            <a:off x="7132320" y="298094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87171"/>
                </a:solidFill>
                <a:latin typeface="Inter"/>
              </a:defRPr>
            </a:pPr>
            <a:r>
              <a:t>ALTO</a:t>
            </a:r>
          </a:p>
        </p:txBody>
      </p:sp>
      <p:sp>
        <p:nvSpPr>
          <p:cNvPr id="27" name="Oval 16">
            <a:extLst>
              <a:ext uri="{FF2B5EF4-FFF2-40B4-BE49-F238E27FC236}">
                <a16:creationId xmlns:a16="http://schemas.microsoft.com/office/drawing/2014/main" id="{DE29960E-D1F2-CC1C-5F2B-1B305F223FBC}"/>
              </a:ext>
            </a:extLst>
          </p:cNvPr>
          <p:cNvSpPr/>
          <p:nvPr/>
        </p:nvSpPr>
        <p:spPr>
          <a:xfrm>
            <a:off x="822959" y="3547872"/>
            <a:ext cx="164592" cy="16459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ED38CC1B-C9B0-60D1-4686-6D75238DC480}"/>
              </a:ext>
            </a:extLst>
          </p:cNvPr>
          <p:cNvSpPr txBox="1"/>
          <p:nvPr/>
        </p:nvSpPr>
        <p:spPr>
          <a:xfrm>
            <a:off x="1097280" y="347472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Inter"/>
              </a:defRPr>
            </a:pPr>
            <a:r>
              <a:t>Content-Security-Policy assente</a:t>
            </a:r>
          </a:p>
        </p:txBody>
      </p:sp>
      <p:sp>
        <p:nvSpPr>
          <p:cNvPr id="31" name="TextBox 18">
            <a:extLst>
              <a:ext uri="{FF2B5EF4-FFF2-40B4-BE49-F238E27FC236}">
                <a16:creationId xmlns:a16="http://schemas.microsoft.com/office/drawing/2014/main" id="{DCB54068-FD94-6E1E-547C-20DEE568C695}"/>
              </a:ext>
            </a:extLst>
          </p:cNvPr>
          <p:cNvSpPr txBox="1"/>
          <p:nvPr/>
        </p:nvSpPr>
        <p:spPr>
          <a:xfrm>
            <a:off x="7132320" y="3474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87171"/>
                </a:solidFill>
                <a:latin typeface="Inter"/>
              </a:defRPr>
            </a:pPr>
            <a:r>
              <a:t>ALTO</a:t>
            </a:r>
          </a:p>
        </p:txBody>
      </p:sp>
      <p:sp>
        <p:nvSpPr>
          <p:cNvPr id="33" name="Oval 20">
            <a:extLst>
              <a:ext uri="{FF2B5EF4-FFF2-40B4-BE49-F238E27FC236}">
                <a16:creationId xmlns:a16="http://schemas.microsoft.com/office/drawing/2014/main" id="{E7CDD379-C4D7-02DD-8EAE-16A7DB06F9E4}"/>
              </a:ext>
            </a:extLst>
          </p:cNvPr>
          <p:cNvSpPr/>
          <p:nvPr/>
        </p:nvSpPr>
        <p:spPr>
          <a:xfrm>
            <a:off x="822959" y="4041648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21">
            <a:extLst>
              <a:ext uri="{FF2B5EF4-FFF2-40B4-BE49-F238E27FC236}">
                <a16:creationId xmlns:a16="http://schemas.microsoft.com/office/drawing/2014/main" id="{B829DD06-90C4-D74A-63CD-25D194BCA0D9}"/>
              </a:ext>
            </a:extLst>
          </p:cNvPr>
          <p:cNvSpPr txBox="1"/>
          <p:nvPr/>
        </p:nvSpPr>
        <p:spPr>
          <a:xfrm>
            <a:off x="1097280" y="3968496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Inter"/>
              </a:defRPr>
            </a:pPr>
            <a:r>
              <a:t>Structured data JSON-LD assente</a:t>
            </a:r>
          </a:p>
        </p:txBody>
      </p:sp>
      <p:sp>
        <p:nvSpPr>
          <p:cNvPr id="37" name="TextBox 22">
            <a:extLst>
              <a:ext uri="{FF2B5EF4-FFF2-40B4-BE49-F238E27FC236}">
                <a16:creationId xmlns:a16="http://schemas.microsoft.com/office/drawing/2014/main" id="{16580501-74FF-8CF0-25BE-91E0F6C535DC}"/>
              </a:ext>
            </a:extLst>
          </p:cNvPr>
          <p:cNvSpPr txBox="1"/>
          <p:nvPr/>
        </p:nvSpPr>
        <p:spPr>
          <a:xfrm>
            <a:off x="7132320" y="396849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BBF24"/>
                </a:solidFill>
                <a:latin typeface="Inter"/>
              </a:defRPr>
            </a:pPr>
            <a:r>
              <a:t>MEDIO</a:t>
            </a:r>
          </a:p>
        </p:txBody>
      </p:sp>
      <p:sp>
        <p:nvSpPr>
          <p:cNvPr id="39" name="Oval 24">
            <a:extLst>
              <a:ext uri="{FF2B5EF4-FFF2-40B4-BE49-F238E27FC236}">
                <a16:creationId xmlns:a16="http://schemas.microsoft.com/office/drawing/2014/main" id="{B3D3A7E7-4B28-66E9-9C63-2DAB31430298}"/>
              </a:ext>
            </a:extLst>
          </p:cNvPr>
          <p:cNvSpPr/>
          <p:nvPr/>
        </p:nvSpPr>
        <p:spPr>
          <a:xfrm>
            <a:off x="822959" y="4535424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25">
            <a:extLst>
              <a:ext uri="{FF2B5EF4-FFF2-40B4-BE49-F238E27FC236}">
                <a16:creationId xmlns:a16="http://schemas.microsoft.com/office/drawing/2014/main" id="{C0B15A11-DA6B-BF06-F156-940A022A43F3}"/>
              </a:ext>
            </a:extLst>
          </p:cNvPr>
          <p:cNvSpPr txBox="1"/>
          <p:nvPr/>
        </p:nvSpPr>
        <p:spPr>
          <a:xfrm>
            <a:off x="1097280" y="4462272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Inter"/>
              </a:defRPr>
            </a:pPr>
            <a:r>
              <a:t>Homepage 765 KB — LCP stimato 3-4s</a:t>
            </a:r>
          </a:p>
        </p:txBody>
      </p:sp>
      <p:sp>
        <p:nvSpPr>
          <p:cNvPr id="43" name="TextBox 26">
            <a:extLst>
              <a:ext uri="{FF2B5EF4-FFF2-40B4-BE49-F238E27FC236}">
                <a16:creationId xmlns:a16="http://schemas.microsoft.com/office/drawing/2014/main" id="{C23EC267-2A28-1A35-650E-EE20167B1581}"/>
              </a:ext>
            </a:extLst>
          </p:cNvPr>
          <p:cNvSpPr txBox="1"/>
          <p:nvPr/>
        </p:nvSpPr>
        <p:spPr>
          <a:xfrm>
            <a:off x="7132320" y="44622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BBF24"/>
                </a:solidFill>
                <a:latin typeface="Inter"/>
              </a:defRPr>
            </a:pPr>
            <a:r>
              <a:t>MEDIO</a:t>
            </a:r>
          </a:p>
        </p:txBody>
      </p:sp>
      <p:sp>
        <p:nvSpPr>
          <p:cNvPr id="45" name="Oval 28">
            <a:extLst>
              <a:ext uri="{FF2B5EF4-FFF2-40B4-BE49-F238E27FC236}">
                <a16:creationId xmlns:a16="http://schemas.microsoft.com/office/drawing/2014/main" id="{7E2867F0-F844-1CF2-9DFA-A1BAC40A380F}"/>
              </a:ext>
            </a:extLst>
          </p:cNvPr>
          <p:cNvSpPr/>
          <p:nvPr/>
        </p:nvSpPr>
        <p:spPr>
          <a:xfrm>
            <a:off x="822959" y="5029200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29">
            <a:extLst>
              <a:ext uri="{FF2B5EF4-FFF2-40B4-BE49-F238E27FC236}">
                <a16:creationId xmlns:a16="http://schemas.microsoft.com/office/drawing/2014/main" id="{240CA788-E2E8-D632-4962-E5D8186FB74A}"/>
              </a:ext>
            </a:extLst>
          </p:cNvPr>
          <p:cNvSpPr txBox="1"/>
          <p:nvPr/>
        </p:nvSpPr>
        <p:spPr>
          <a:xfrm>
            <a:off x="1097280" y="495604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Inter"/>
              </a:defRPr>
            </a:pPr>
            <a:r>
              <a:t>X-Frame-Options assente</a:t>
            </a:r>
          </a:p>
        </p:txBody>
      </p:sp>
      <p:sp>
        <p:nvSpPr>
          <p:cNvPr id="49" name="TextBox 30">
            <a:extLst>
              <a:ext uri="{FF2B5EF4-FFF2-40B4-BE49-F238E27FC236}">
                <a16:creationId xmlns:a16="http://schemas.microsoft.com/office/drawing/2014/main" id="{9161EDAB-DBC1-0FD8-5A81-386E1A24F74C}"/>
              </a:ext>
            </a:extLst>
          </p:cNvPr>
          <p:cNvSpPr txBox="1"/>
          <p:nvPr/>
        </p:nvSpPr>
        <p:spPr>
          <a:xfrm>
            <a:off x="7132320" y="4956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BBF24"/>
                </a:solidFill>
                <a:latin typeface="Inter"/>
              </a:defRPr>
            </a:pPr>
            <a:r>
              <a:t>MEDIO</a:t>
            </a:r>
          </a:p>
        </p:txBody>
      </p:sp>
      <p:sp>
        <p:nvSpPr>
          <p:cNvPr id="51" name="Oval 32">
            <a:extLst>
              <a:ext uri="{FF2B5EF4-FFF2-40B4-BE49-F238E27FC236}">
                <a16:creationId xmlns:a16="http://schemas.microsoft.com/office/drawing/2014/main" id="{939E10D4-3DA7-12D2-F789-D57173791A39}"/>
              </a:ext>
            </a:extLst>
          </p:cNvPr>
          <p:cNvSpPr/>
          <p:nvPr/>
        </p:nvSpPr>
        <p:spPr>
          <a:xfrm>
            <a:off x="822959" y="5522976"/>
            <a:ext cx="164592" cy="164592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33">
            <a:extLst>
              <a:ext uri="{FF2B5EF4-FFF2-40B4-BE49-F238E27FC236}">
                <a16:creationId xmlns:a16="http://schemas.microsoft.com/office/drawing/2014/main" id="{CFA546F2-32B6-BE27-0930-7F3CB83DF9A4}"/>
              </a:ext>
            </a:extLst>
          </p:cNvPr>
          <p:cNvSpPr txBox="1"/>
          <p:nvPr/>
        </p:nvSpPr>
        <p:spPr>
          <a:xfrm>
            <a:off x="1097280" y="5449824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Inter"/>
              </a:defRPr>
            </a:pPr>
            <a:r>
              <a:t>Overskin — placeholder Aruba, non live</a:t>
            </a:r>
          </a:p>
        </p:txBody>
      </p:sp>
      <p:sp>
        <p:nvSpPr>
          <p:cNvPr id="55" name="TextBox 34">
            <a:extLst>
              <a:ext uri="{FF2B5EF4-FFF2-40B4-BE49-F238E27FC236}">
                <a16:creationId xmlns:a16="http://schemas.microsoft.com/office/drawing/2014/main" id="{4791894E-81F0-A6BE-10A7-7B2FF24039AD}"/>
              </a:ext>
            </a:extLst>
          </p:cNvPr>
          <p:cNvSpPr txBox="1"/>
          <p:nvPr/>
        </p:nvSpPr>
        <p:spPr>
          <a:xfrm>
            <a:off x="7132320" y="54498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2038660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27EC0B-2ACE-6D25-FF83-C2C662B9D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1A8A6F51-A70B-C01A-9AF4-DB6C0194CDDF}"/>
              </a:ext>
            </a:extLst>
          </p:cNvPr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I gap architetturali (da verificare in onboarding)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CD87AAB-034D-A876-3C57-2924FF3045F8}"/>
              </a:ext>
            </a:extLst>
          </p:cNvPr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830D30FC-FD8A-F738-5021-F094D7E99514}"/>
              </a:ext>
            </a:extLst>
          </p:cNvPr>
          <p:cNvSpPr txBox="1"/>
          <p:nvPr/>
        </p:nvSpPr>
        <p:spPr>
          <a:xfrm>
            <a:off x="1097280" y="15727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BBF24"/>
                </a:solidFill>
                <a:latin typeface="Inter"/>
              </a:defRPr>
            </a:pPr>
            <a:r>
              <a:t>Inferiti dalla struttura del business — non misurabili dall'esterno. Li presento come ipotesi, non come certezze.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99B6F07E-83A7-E70B-9A67-89303199EACF}"/>
              </a:ext>
            </a:extLst>
          </p:cNvPr>
          <p:cNvSpPr/>
          <p:nvPr/>
        </p:nvSpPr>
        <p:spPr>
          <a:xfrm>
            <a:off x="1097280" y="2194560"/>
            <a:ext cx="996696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B67FE7D7-9956-CF8E-F0E5-8C797969F458}"/>
              </a:ext>
            </a:extLst>
          </p:cNvPr>
          <p:cNvSpPr txBox="1"/>
          <p:nvPr/>
        </p:nvSpPr>
        <p:spPr>
          <a:xfrm>
            <a:off x="1417320" y="22677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BBF24"/>
                </a:solidFill>
                <a:latin typeface="Inter"/>
              </a:defRPr>
            </a:pPr>
            <a:r>
              <a:t>Inventory non unificato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37526420-2BF3-6BEB-7807-BF0D2E855D9E}"/>
              </a:ext>
            </a:extLst>
          </p:cNvPr>
          <p:cNvSpPr txBox="1"/>
          <p:nvPr/>
        </p:nvSpPr>
        <p:spPr>
          <a:xfrm>
            <a:off x="5669280" y="226771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34155"/>
                </a:solidFill>
                <a:latin typeface="Inter"/>
              </a:defRPr>
            </a:pPr>
            <a:r>
              <a:t>[probabile]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DFF36DE4-94E8-A339-A5A5-08FAD48503AE}"/>
              </a:ext>
            </a:extLst>
          </p:cNvPr>
          <p:cNvSpPr txBox="1"/>
          <p:nvPr/>
        </p:nvSpPr>
        <p:spPr>
          <a:xfrm>
            <a:off x="1417320" y="26517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Inter"/>
              </a:defRPr>
            </a:pPr>
            <a:r>
              <a:t>Shopify (stock online) e NAV (14 store fisici + B2B) quasi certamente non condividono un single source of truth real-time. Conseguenze: click &amp; collect bloccato, overselling sui lanci, loyalty cross-channel limitata.</a:t>
            </a: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DE33047C-BE79-95DF-4D99-D82C608ACE2F}"/>
              </a:ext>
            </a:extLst>
          </p:cNvPr>
          <p:cNvSpPr/>
          <p:nvPr/>
        </p:nvSpPr>
        <p:spPr>
          <a:xfrm>
            <a:off x="1097280" y="3218688"/>
            <a:ext cx="996696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7CB00B5E-100C-FAEE-22C1-DA48D7A4291A}"/>
              </a:ext>
            </a:extLst>
          </p:cNvPr>
          <p:cNvSpPr txBox="1"/>
          <p:nvPr/>
        </p:nvSpPr>
        <p:spPr>
          <a:xfrm>
            <a:off x="1417320" y="3291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BBF24"/>
                </a:solidFill>
                <a:latin typeface="Inter"/>
              </a:defRPr>
            </a:pPr>
            <a:r>
              <a:t>Decisione ERP aperta</a:t>
            </a: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6C264D7D-E20B-A414-3BAF-7DE99BE41BA0}"/>
              </a:ext>
            </a:extLst>
          </p:cNvPr>
          <p:cNvSpPr txBox="1"/>
          <p:nvPr/>
        </p:nvSpPr>
        <p:spPr>
          <a:xfrm>
            <a:off x="5669280" y="32918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34155"/>
                </a:solidFill>
                <a:latin typeface="Inter"/>
              </a:defRPr>
            </a:pPr>
            <a:r>
              <a:t>[probabile]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DA6E6370-02FC-D4C1-47D3-A9D1CBD764AF}"/>
              </a:ext>
            </a:extLst>
          </p:cNvPr>
          <p:cNvSpPr txBox="1"/>
          <p:nvPr/>
        </p:nvSpPr>
        <p:spPr>
          <a:xfrm>
            <a:off x="1417320" y="3675887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Inter"/>
              </a:defRPr>
            </a:pPr>
            <a:r>
              <a:t>Dynamics NAV fuori mainstream support su versioni pre-2018. Migrazione a Business Central: 6-18 mesi, 100-400K EUR. Ogni trimestre senza una decisione informata aumenta il rischio.</a:t>
            </a:r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5712EAB2-9694-7927-3F9A-34D368C824E5}"/>
              </a:ext>
            </a:extLst>
          </p:cNvPr>
          <p:cNvSpPr/>
          <p:nvPr/>
        </p:nvSpPr>
        <p:spPr>
          <a:xfrm>
            <a:off x="1097280" y="4242816"/>
            <a:ext cx="996696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41022A7C-3AE3-8465-C106-69F1BB6F3737}"/>
              </a:ext>
            </a:extLst>
          </p:cNvPr>
          <p:cNvSpPr txBox="1"/>
          <p:nvPr/>
        </p:nvSpPr>
        <p:spPr>
          <a:xfrm>
            <a:off x="1417320" y="43159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BBF24"/>
                </a:solidFill>
                <a:latin typeface="Inter"/>
              </a:defRPr>
            </a:pPr>
            <a:r>
              <a:t>Architettura multi-brand non definita</a:t>
            </a:r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7D00C790-FFFA-AC54-E355-1CA5541677FC}"/>
              </a:ext>
            </a:extLst>
          </p:cNvPr>
          <p:cNvSpPr txBox="1"/>
          <p:nvPr/>
        </p:nvSpPr>
        <p:spPr>
          <a:xfrm>
            <a:off x="5669280" y="43159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34155"/>
                </a:solidFill>
                <a:latin typeface="Inter"/>
              </a:defRPr>
            </a:pPr>
            <a:r>
              <a:t>[probabile]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AD0377AA-A3E6-F082-691C-AB87DA4ECC5A}"/>
              </a:ext>
            </a:extLst>
          </p:cNvPr>
          <p:cNvSpPr txBox="1"/>
          <p:nvPr/>
        </p:nvSpPr>
        <p:spPr>
          <a:xfrm>
            <a:off x="1417320" y="4700016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Inter"/>
              </a:defRPr>
            </a:pPr>
            <a:r>
              <a:t>Veralab + Overskin su Shopify standard: senza Shopify Plus o scelta architetturale esplicita, nascera debito tecnico impossibile da sciogliere.</a:t>
            </a:r>
          </a:p>
        </p:txBody>
      </p:sp>
      <p:sp>
        <p:nvSpPr>
          <p:cNvPr id="33" name="Rounded Rectangle 16">
            <a:extLst>
              <a:ext uri="{FF2B5EF4-FFF2-40B4-BE49-F238E27FC236}">
                <a16:creationId xmlns:a16="http://schemas.microsoft.com/office/drawing/2014/main" id="{B548691A-3653-3CD1-8DCE-A14B44988AFF}"/>
              </a:ext>
            </a:extLst>
          </p:cNvPr>
          <p:cNvSpPr/>
          <p:nvPr/>
        </p:nvSpPr>
        <p:spPr>
          <a:xfrm>
            <a:off x="1097280" y="5266944"/>
            <a:ext cx="996696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17">
            <a:extLst>
              <a:ext uri="{FF2B5EF4-FFF2-40B4-BE49-F238E27FC236}">
                <a16:creationId xmlns:a16="http://schemas.microsoft.com/office/drawing/2014/main" id="{7DF50269-0CBE-C756-09C2-0C520BEA72A6}"/>
              </a:ext>
            </a:extLst>
          </p:cNvPr>
          <p:cNvSpPr txBox="1"/>
          <p:nvPr/>
        </p:nvSpPr>
        <p:spPr>
          <a:xfrm>
            <a:off x="1417320" y="534009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87171"/>
                </a:solidFill>
                <a:latin typeface="Inter"/>
              </a:defRPr>
            </a:pPr>
            <a:r>
              <a:t>Monitoring assente</a:t>
            </a:r>
          </a:p>
        </p:txBody>
      </p:sp>
      <p:sp>
        <p:nvSpPr>
          <p:cNvPr id="37" name="TextBox 18">
            <a:extLst>
              <a:ext uri="{FF2B5EF4-FFF2-40B4-BE49-F238E27FC236}">
                <a16:creationId xmlns:a16="http://schemas.microsoft.com/office/drawing/2014/main" id="{4372211C-679F-B39E-9AC5-4AA5B0B5C779}"/>
              </a:ext>
            </a:extLst>
          </p:cNvPr>
          <p:cNvSpPr txBox="1"/>
          <p:nvPr/>
        </p:nvSpPr>
        <p:spPr>
          <a:xfrm>
            <a:off x="5669280" y="534009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34155"/>
                </a:solidFill>
                <a:latin typeface="Inter"/>
              </a:defRPr>
            </a:pPr>
            <a:r>
              <a:t>[verificato]</a:t>
            </a:r>
          </a:p>
        </p:txBody>
      </p:sp>
      <p:sp>
        <p:nvSpPr>
          <p:cNvPr id="39" name="TextBox 19">
            <a:extLst>
              <a:ext uri="{FF2B5EF4-FFF2-40B4-BE49-F238E27FC236}">
                <a16:creationId xmlns:a16="http://schemas.microsoft.com/office/drawing/2014/main" id="{E5D728E8-C77C-9441-9422-A83090249029}"/>
              </a:ext>
            </a:extLst>
          </p:cNvPr>
          <p:cNvSpPr txBox="1"/>
          <p:nvPr/>
        </p:nvSpPr>
        <p:spPr>
          <a:xfrm>
            <a:off x="1417320" y="5724144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Inter"/>
              </a:defRPr>
            </a:pPr>
            <a:r>
              <a:t>Il 500 del Magazine non e nei vostri alert. Non avete visibilita su cosa succede in produzione.</a:t>
            </a:r>
          </a:p>
        </p:txBody>
      </p:sp>
    </p:spTree>
    <p:extLst>
      <p:ext uri="{BB962C8B-B14F-4D97-AF65-F5344CB8AC3E}">
        <p14:creationId xmlns:p14="http://schemas.microsoft.com/office/powerpoint/2010/main" val="1477986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3002FE-4E74-A84B-3FCB-407D246B4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0D0D40C3-11FA-F2CE-F62D-EAAA997DB509}"/>
              </a:ext>
            </a:extLst>
          </p:cNvPr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Cosa faccio concretamente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F4FBC1B-AD99-3916-FE92-1DD2310C81C1}"/>
              </a:ext>
            </a:extLst>
          </p:cNvPr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8CAF988D-F9F3-D1AF-F9E4-6393AFF2DF50}"/>
              </a:ext>
            </a:extLst>
          </p:cNvPr>
          <p:cNvSpPr txBox="1"/>
          <p:nvPr/>
        </p:nvSpPr>
        <p:spPr>
          <a:xfrm>
            <a:off x="13716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Strategia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AD376A04-A8EE-CD46-C5FF-2B3B0D8562D6}"/>
              </a:ext>
            </a:extLst>
          </p:cNvPr>
          <p:cNvSpPr txBox="1"/>
          <p:nvPr/>
        </p:nvSpPr>
        <p:spPr>
          <a:xfrm>
            <a:off x="4572000" y="1828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Roadmap tecnica, decisioni architetturali, allineamento business-tech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68451BDA-E3E6-ACFD-8A27-32EE7832895B}"/>
              </a:ext>
            </a:extLst>
          </p:cNvPr>
          <p:cNvSpPr txBox="1"/>
          <p:nvPr/>
        </p:nvSpPr>
        <p:spPr>
          <a:xfrm>
            <a:off x="1371600" y="2697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Architettura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30E92E02-4BBC-22F7-9881-774E61D1B7BD}"/>
              </a:ext>
            </a:extLst>
          </p:cNvPr>
          <p:cNvSpPr txBox="1"/>
          <p:nvPr/>
        </p:nvSpPr>
        <p:spPr>
          <a:xfrm>
            <a:off x="4572000" y="2697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Review design, standard, debito tecnico, scelte build/buy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111B6CF9-3864-595A-4082-BEFEF62F9852}"/>
              </a:ext>
            </a:extLst>
          </p:cNvPr>
          <p:cNvSpPr txBox="1"/>
          <p:nvPr/>
        </p:nvSpPr>
        <p:spPr>
          <a:xfrm>
            <a:off x="137160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Team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837BF70D-3CE4-265B-C8D5-03E3643E8D35}"/>
              </a:ext>
            </a:extLst>
          </p:cNvPr>
          <p:cNvSpPr txBox="1"/>
          <p:nvPr/>
        </p:nvSpPr>
        <p:spPr>
          <a:xfrm>
            <a:off x="4572000" y="35661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Hiring, 1:1, mentoring, cultura ingegneristica, crescita</a:t>
            </a: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48C8670D-42B8-4D07-4960-87487A95253E}"/>
              </a:ext>
            </a:extLst>
          </p:cNvPr>
          <p:cNvSpPr txBox="1"/>
          <p:nvPr/>
        </p:nvSpPr>
        <p:spPr>
          <a:xfrm>
            <a:off x="1371600" y="4434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Governance</a:t>
            </a: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17AC9D48-CC44-98D4-D8A3-49C8372EAADA}"/>
              </a:ext>
            </a:extLst>
          </p:cNvPr>
          <p:cNvSpPr txBox="1"/>
          <p:nvPr/>
        </p:nvSpPr>
        <p:spPr>
          <a:xfrm>
            <a:off x="4572000" y="44348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ADR tracciabili, metriche DORA, report mensile, CEO sync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9B23AFEC-1513-7658-1AFA-DDF3C8FE6654}"/>
              </a:ext>
            </a:extLst>
          </p:cNvPr>
          <p:cNvSpPr txBox="1"/>
          <p:nvPr/>
        </p:nvSpPr>
        <p:spPr>
          <a:xfrm>
            <a:off x="137160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AI &amp; Innovazione</a:t>
            </a: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1D168E83-C95F-14CA-116A-4ECB0180054F}"/>
              </a:ext>
            </a:extLst>
          </p:cNvPr>
          <p:cNvSpPr txBox="1"/>
          <p:nvPr/>
        </p:nvSpPr>
        <p:spPr>
          <a:xfrm>
            <a:off x="4572000" y="53035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Adoption pragmatica — ROI dimostrabile, non hype</a:t>
            </a:r>
          </a:p>
        </p:txBody>
      </p:sp>
    </p:spTree>
    <p:extLst>
      <p:ext uri="{BB962C8B-B14F-4D97-AF65-F5344CB8AC3E}">
        <p14:creationId xmlns:p14="http://schemas.microsoft.com/office/powerpoint/2010/main" val="406688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2D8E1E-B3BA-D662-6A7A-C0E8D0A21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1">
            <a:extLst>
              <a:ext uri="{FF2B5EF4-FFF2-40B4-BE49-F238E27FC236}">
                <a16:creationId xmlns:a16="http://schemas.microsoft.com/office/drawing/2014/main" id="{96A83EFB-963F-7B1B-CCFA-BEF74F94F8B6}"/>
              </a:ext>
            </a:extLst>
          </p:cNvPr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I principi dietro ogni decisione</a:t>
            </a:r>
          </a:p>
        </p:txBody>
      </p:sp>
      <p:sp>
        <p:nvSpPr>
          <p:cNvPr id="55" name="Rectangle 2">
            <a:extLst>
              <a:ext uri="{FF2B5EF4-FFF2-40B4-BE49-F238E27FC236}">
                <a16:creationId xmlns:a16="http://schemas.microsoft.com/office/drawing/2014/main" id="{86D01881-38F9-8756-DFA7-F750BA584D99}"/>
              </a:ext>
            </a:extLst>
          </p:cNvPr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3">
            <a:extLst>
              <a:ext uri="{FF2B5EF4-FFF2-40B4-BE49-F238E27FC236}">
                <a16:creationId xmlns:a16="http://schemas.microsoft.com/office/drawing/2014/main" id="{20740E5F-206C-5D1D-36FC-60985D8AC058}"/>
              </a:ext>
            </a:extLst>
          </p:cNvPr>
          <p:cNvSpPr txBox="1"/>
          <p:nvPr/>
        </p:nvSpPr>
        <p:spPr>
          <a:xfrm>
            <a:off x="109728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15 pilastri tecnici organizzati in 4 macro-aree:</a:t>
            </a:r>
          </a:p>
        </p:txBody>
      </p:sp>
      <p:sp>
        <p:nvSpPr>
          <p:cNvPr id="59" name="Rounded Rectangle 4">
            <a:extLst>
              <a:ext uri="{FF2B5EF4-FFF2-40B4-BE49-F238E27FC236}">
                <a16:creationId xmlns:a16="http://schemas.microsoft.com/office/drawing/2014/main" id="{358FD4B0-6A81-FE02-E8C8-DB4EE4A78356}"/>
              </a:ext>
            </a:extLst>
          </p:cNvPr>
          <p:cNvSpPr/>
          <p:nvPr/>
        </p:nvSpPr>
        <p:spPr>
          <a:xfrm>
            <a:off x="1097280" y="2286000"/>
            <a:ext cx="9875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5">
            <a:extLst>
              <a:ext uri="{FF2B5EF4-FFF2-40B4-BE49-F238E27FC236}">
                <a16:creationId xmlns:a16="http://schemas.microsoft.com/office/drawing/2014/main" id="{B1E7167E-FB93-556A-ACE3-F887B4AFA21A}"/>
              </a:ext>
            </a:extLst>
          </p:cNvPr>
          <p:cNvSpPr txBox="1"/>
          <p:nvPr/>
        </p:nvSpPr>
        <p:spPr>
          <a:xfrm>
            <a:off x="1371600" y="23591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COSTRUIRE</a:t>
            </a:r>
          </a:p>
        </p:txBody>
      </p:sp>
      <p:sp>
        <p:nvSpPr>
          <p:cNvPr id="63" name="TextBox 6">
            <a:extLst>
              <a:ext uri="{FF2B5EF4-FFF2-40B4-BE49-F238E27FC236}">
                <a16:creationId xmlns:a16="http://schemas.microsoft.com/office/drawing/2014/main" id="{5A9CB0C7-A572-7147-6BDC-50040CC39DE5}"/>
              </a:ext>
            </a:extLst>
          </p:cNvPr>
          <p:cNvSpPr txBox="1"/>
          <p:nvPr/>
        </p:nvSpPr>
        <p:spPr>
          <a:xfrm>
            <a:off x="4114800" y="23591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Architettura, Design, Qualita</a:t>
            </a:r>
          </a:p>
        </p:txBody>
      </p:sp>
      <p:sp>
        <p:nvSpPr>
          <p:cNvPr id="65" name="TextBox 7">
            <a:extLst>
              <a:ext uri="{FF2B5EF4-FFF2-40B4-BE49-F238E27FC236}">
                <a16:creationId xmlns:a16="http://schemas.microsoft.com/office/drawing/2014/main" id="{FD4EF9EA-8B42-1AEB-751A-894C1DF540D7}"/>
              </a:ext>
            </a:extLst>
          </p:cNvPr>
          <p:cNvSpPr txBox="1"/>
          <p:nvPr/>
        </p:nvSpPr>
        <p:spPr>
          <a:xfrm>
            <a:off x="8412480" y="23591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Inter"/>
              </a:defRPr>
            </a:pPr>
            <a:r>
              <a:t>Cosa stiamo costruendo e come?</a:t>
            </a:r>
          </a:p>
        </p:txBody>
      </p:sp>
      <p:sp>
        <p:nvSpPr>
          <p:cNvPr id="67" name="Rounded Rectangle 8">
            <a:extLst>
              <a:ext uri="{FF2B5EF4-FFF2-40B4-BE49-F238E27FC236}">
                <a16:creationId xmlns:a16="http://schemas.microsoft.com/office/drawing/2014/main" id="{8DD017FE-87F4-2081-B269-6A8F7063B072}"/>
              </a:ext>
            </a:extLst>
          </p:cNvPr>
          <p:cNvSpPr/>
          <p:nvPr/>
        </p:nvSpPr>
        <p:spPr>
          <a:xfrm>
            <a:off x="1097280" y="3246119"/>
            <a:ext cx="9875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9">
            <a:extLst>
              <a:ext uri="{FF2B5EF4-FFF2-40B4-BE49-F238E27FC236}">
                <a16:creationId xmlns:a16="http://schemas.microsoft.com/office/drawing/2014/main" id="{7EB35B31-0CB2-1ED9-E346-508C67EFE44C}"/>
              </a:ext>
            </a:extLst>
          </p:cNvPr>
          <p:cNvSpPr txBox="1"/>
          <p:nvPr/>
        </p:nvSpPr>
        <p:spPr>
          <a:xfrm>
            <a:off x="1371600" y="331927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VERIFICARE</a:t>
            </a:r>
          </a:p>
        </p:txBody>
      </p:sp>
      <p:sp>
        <p:nvSpPr>
          <p:cNvPr id="71" name="TextBox 10">
            <a:extLst>
              <a:ext uri="{FF2B5EF4-FFF2-40B4-BE49-F238E27FC236}">
                <a16:creationId xmlns:a16="http://schemas.microsoft.com/office/drawing/2014/main" id="{650DFBF1-D546-E4AF-F8A6-C845B09796FC}"/>
              </a:ext>
            </a:extLst>
          </p:cNvPr>
          <p:cNvSpPr txBox="1"/>
          <p:nvPr/>
        </p:nvSpPr>
        <p:spPr>
          <a:xfrm>
            <a:off x="4114800" y="3319271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Testing, Delivery, Osservabilita</a:t>
            </a:r>
          </a:p>
        </p:txBody>
      </p:sp>
      <p:sp>
        <p:nvSpPr>
          <p:cNvPr id="73" name="TextBox 11">
            <a:extLst>
              <a:ext uri="{FF2B5EF4-FFF2-40B4-BE49-F238E27FC236}">
                <a16:creationId xmlns:a16="http://schemas.microsoft.com/office/drawing/2014/main" id="{A4878E08-D469-77AC-FB90-A4D448E94431}"/>
              </a:ext>
            </a:extLst>
          </p:cNvPr>
          <p:cNvSpPr txBox="1"/>
          <p:nvPr/>
        </p:nvSpPr>
        <p:spPr>
          <a:xfrm>
            <a:off x="8412480" y="331927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Inter"/>
              </a:defRPr>
            </a:pPr>
            <a:r>
              <a:t>Come sappiamo che funziona?</a:t>
            </a:r>
          </a:p>
        </p:txBody>
      </p:sp>
      <p:sp>
        <p:nvSpPr>
          <p:cNvPr id="75" name="Rounded Rectangle 12">
            <a:extLst>
              <a:ext uri="{FF2B5EF4-FFF2-40B4-BE49-F238E27FC236}">
                <a16:creationId xmlns:a16="http://schemas.microsoft.com/office/drawing/2014/main" id="{CC980BD3-C8B6-ACAD-63E7-A7653F10CA5C}"/>
              </a:ext>
            </a:extLst>
          </p:cNvPr>
          <p:cNvSpPr/>
          <p:nvPr/>
        </p:nvSpPr>
        <p:spPr>
          <a:xfrm>
            <a:off x="1097280" y="4206240"/>
            <a:ext cx="9875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13">
            <a:extLst>
              <a:ext uri="{FF2B5EF4-FFF2-40B4-BE49-F238E27FC236}">
                <a16:creationId xmlns:a16="http://schemas.microsoft.com/office/drawing/2014/main" id="{A7AA0BA1-7C52-F92D-1727-B09D9AC0E080}"/>
              </a:ext>
            </a:extLst>
          </p:cNvPr>
          <p:cNvSpPr txBox="1"/>
          <p:nvPr/>
        </p:nvSpPr>
        <p:spPr>
          <a:xfrm>
            <a:off x="1371600" y="4279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PROTEGGERE</a:t>
            </a:r>
          </a:p>
        </p:txBody>
      </p:sp>
      <p:sp>
        <p:nvSpPr>
          <p:cNvPr id="79" name="TextBox 14">
            <a:extLst>
              <a:ext uri="{FF2B5EF4-FFF2-40B4-BE49-F238E27FC236}">
                <a16:creationId xmlns:a16="http://schemas.microsoft.com/office/drawing/2014/main" id="{23928D78-9062-7730-14B5-D3992B1CF319}"/>
              </a:ext>
            </a:extLst>
          </p:cNvPr>
          <p:cNvSpPr txBox="1"/>
          <p:nvPr/>
        </p:nvSpPr>
        <p:spPr>
          <a:xfrm>
            <a:off x="4114800" y="42793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Sicurezza, Dati, Scalabilita</a:t>
            </a:r>
          </a:p>
        </p:txBody>
      </p:sp>
      <p:sp>
        <p:nvSpPr>
          <p:cNvPr id="81" name="TextBox 15">
            <a:extLst>
              <a:ext uri="{FF2B5EF4-FFF2-40B4-BE49-F238E27FC236}">
                <a16:creationId xmlns:a16="http://schemas.microsoft.com/office/drawing/2014/main" id="{42D2ECA4-BC6C-D69D-BDFB-2062115FC2F7}"/>
              </a:ext>
            </a:extLst>
          </p:cNvPr>
          <p:cNvSpPr txBox="1"/>
          <p:nvPr/>
        </p:nvSpPr>
        <p:spPr>
          <a:xfrm>
            <a:off x="8412480" y="4279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Inter"/>
              </a:defRPr>
            </a:pPr>
            <a:r>
              <a:t>Come lo difendiamo?</a:t>
            </a:r>
          </a:p>
        </p:txBody>
      </p:sp>
      <p:sp>
        <p:nvSpPr>
          <p:cNvPr id="83" name="Rounded Rectangle 16">
            <a:extLst>
              <a:ext uri="{FF2B5EF4-FFF2-40B4-BE49-F238E27FC236}">
                <a16:creationId xmlns:a16="http://schemas.microsoft.com/office/drawing/2014/main" id="{F3D56968-0021-CFDB-D67B-CBF9C5C29119}"/>
              </a:ext>
            </a:extLst>
          </p:cNvPr>
          <p:cNvSpPr/>
          <p:nvPr/>
        </p:nvSpPr>
        <p:spPr>
          <a:xfrm>
            <a:off x="1097280" y="5166360"/>
            <a:ext cx="9875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17">
            <a:extLst>
              <a:ext uri="{FF2B5EF4-FFF2-40B4-BE49-F238E27FC236}">
                <a16:creationId xmlns:a16="http://schemas.microsoft.com/office/drawing/2014/main" id="{ED60CA7F-1A97-7FB4-5A44-C57DB9E83E11}"/>
              </a:ext>
            </a:extLst>
          </p:cNvPr>
          <p:cNvSpPr txBox="1"/>
          <p:nvPr/>
        </p:nvSpPr>
        <p:spPr>
          <a:xfrm>
            <a:off x="1371600" y="52395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GUIDARE</a:t>
            </a:r>
          </a:p>
        </p:txBody>
      </p:sp>
      <p:sp>
        <p:nvSpPr>
          <p:cNvPr id="87" name="TextBox 18">
            <a:extLst>
              <a:ext uri="{FF2B5EF4-FFF2-40B4-BE49-F238E27FC236}">
                <a16:creationId xmlns:a16="http://schemas.microsoft.com/office/drawing/2014/main" id="{EC5AE375-1B6D-B104-CDD9-1AF3BC5035E3}"/>
              </a:ext>
            </a:extLst>
          </p:cNvPr>
          <p:cNvSpPr txBox="1"/>
          <p:nvPr/>
        </p:nvSpPr>
        <p:spPr>
          <a:xfrm>
            <a:off x="4114800" y="52395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Team, Debito, AI, Decisioni, Costi, Comunicazione</a:t>
            </a:r>
          </a:p>
        </p:txBody>
      </p:sp>
      <p:sp>
        <p:nvSpPr>
          <p:cNvPr id="89" name="TextBox 19">
            <a:extLst>
              <a:ext uri="{FF2B5EF4-FFF2-40B4-BE49-F238E27FC236}">
                <a16:creationId xmlns:a16="http://schemas.microsoft.com/office/drawing/2014/main" id="{76C5BC4C-D041-B833-503A-65A2AFEDD8EA}"/>
              </a:ext>
            </a:extLst>
          </p:cNvPr>
          <p:cNvSpPr txBox="1"/>
          <p:nvPr/>
        </p:nvSpPr>
        <p:spPr>
          <a:xfrm>
            <a:off x="8412480" y="52395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Inter"/>
              </a:defRPr>
            </a:pPr>
            <a:r>
              <a:t>Come funzionano le persone?</a:t>
            </a:r>
          </a:p>
        </p:txBody>
      </p:sp>
    </p:spTree>
    <p:extLst>
      <p:ext uri="{BB962C8B-B14F-4D97-AF65-F5344CB8AC3E}">
        <p14:creationId xmlns:p14="http://schemas.microsoft.com/office/powerpoint/2010/main" val="1094879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1DA67-B630-1D27-2E29-C426EF192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7C203BD3-E52F-38F6-45FC-9D3A8B3B0692}"/>
              </a:ext>
            </a:extLst>
          </p:cNvPr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COSTRUIRE — Principi architetturali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491E6AC-BF0C-1340-6CB2-2EC1111D3F7F}"/>
              </a:ext>
            </a:extLst>
          </p:cNvPr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FC65E3C7-FC64-09C0-89EF-CB8FB9E4B877}"/>
              </a:ext>
            </a:extLst>
          </p:cNvPr>
          <p:cNvSpPr txBox="1"/>
          <p:nvPr/>
        </p:nvSpPr>
        <p:spPr>
          <a:xfrm>
            <a:off x="13716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Trade-off espliciti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582739B5-D5A0-3E1C-C13D-036E9C3DA484}"/>
              </a:ext>
            </a:extLst>
          </p:cNvPr>
          <p:cNvSpPr txBox="1"/>
          <p:nvPr/>
        </p:nvSpPr>
        <p:spPr>
          <a:xfrm>
            <a:off x="5303520" y="1828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Non esiste giusto. Esiste adatto a un costo dichiarato.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179C53CD-7435-3527-49F3-0FB28AE3E671}"/>
              </a:ext>
            </a:extLst>
          </p:cNvPr>
          <p:cNvSpPr txBox="1"/>
          <p:nvPr/>
        </p:nvSpPr>
        <p:spPr>
          <a:xfrm>
            <a:off x="1371600" y="25786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ADR obbligatori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36307A4B-FB0F-117A-1B36-3A3CF3A4986B}"/>
              </a:ext>
            </a:extLst>
          </p:cNvPr>
          <p:cNvSpPr txBox="1"/>
          <p:nvPr/>
        </p:nvSpPr>
        <p:spPr>
          <a:xfrm>
            <a:off x="5303520" y="2578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Se non e scritto, tra 6 mesi diventa folklore.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C108D765-1413-2341-F505-EE9EAF14F46C}"/>
              </a:ext>
            </a:extLst>
          </p:cNvPr>
          <p:cNvSpPr txBox="1"/>
          <p:nvPr/>
        </p:nvSpPr>
        <p:spPr>
          <a:xfrm>
            <a:off x="1371600" y="332841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Bounded Context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3E7B86CA-4B82-FDBE-DF5D-3E7DCD80F987}"/>
              </a:ext>
            </a:extLst>
          </p:cNvPr>
          <p:cNvSpPr txBox="1"/>
          <p:nvPr/>
        </p:nvSpPr>
        <p:spPr>
          <a:xfrm>
            <a:off x="5303520" y="3328415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Progetta dai linguaggi del business, non dalle tabelle.</a:t>
            </a: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A840D201-8306-A630-8B4F-5C6A911D8BD3}"/>
              </a:ext>
            </a:extLst>
          </p:cNvPr>
          <p:cNvSpPr txBox="1"/>
          <p:nvPr/>
        </p:nvSpPr>
        <p:spPr>
          <a:xfrm>
            <a:off x="1371600" y="40782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Resilienza B-T-R-C</a:t>
            </a: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4761496B-F781-24E3-D021-10B81579B75A}"/>
              </a:ext>
            </a:extLst>
          </p:cNvPr>
          <p:cNvSpPr txBox="1"/>
          <p:nvPr/>
        </p:nvSpPr>
        <p:spPr>
          <a:xfrm>
            <a:off x="5303520" y="407822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Bulkhead → Timeout → Retry → Circuit Breaker. Sempre.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54A0D1B6-03C1-59E9-3B59-AAB986419288}"/>
              </a:ext>
            </a:extLst>
          </p:cNvPr>
          <p:cNvSpPr txBox="1"/>
          <p:nvPr/>
        </p:nvSpPr>
        <p:spPr>
          <a:xfrm>
            <a:off x="1371600" y="482803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API-First</a:t>
            </a: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34AB1F85-723A-791B-F4C0-E6A5BE401E1C}"/>
              </a:ext>
            </a:extLst>
          </p:cNvPr>
          <p:cNvSpPr txBox="1"/>
          <p:nvPr/>
        </p:nvSpPr>
        <p:spPr>
          <a:xfrm>
            <a:off x="5303520" y="4828031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Contratto prima, codice dopo. Il sistema scala sul contratto.</a:t>
            </a: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3CD20F59-BA53-7B58-D1F2-C9A3089F970A}"/>
              </a:ext>
            </a:extLst>
          </p:cNvPr>
          <p:cNvSpPr txBox="1"/>
          <p:nvPr/>
        </p:nvSpPr>
        <p:spPr>
          <a:xfrm>
            <a:off x="137160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Modular Monolith</a:t>
            </a:r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385CDC16-5EC0-5D7A-A52F-184FE59618F0}"/>
              </a:ext>
            </a:extLst>
          </p:cNvPr>
          <p:cNvSpPr txBox="1"/>
          <p:nvPr/>
        </p:nvSpPr>
        <p:spPr>
          <a:xfrm>
            <a:off x="5303520" y="5577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Non estrarre un servizio finche il confine non esiste gia.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D81190A6-6B38-D69F-C51A-C46B2580E823}"/>
              </a:ext>
            </a:extLst>
          </p:cNvPr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Inter"/>
              </a:defRPr>
            </a:pPr>
            <a:r>
              <a:t>Ogni principio ha una fitness function misurabile e un ADR di supporto.</a:t>
            </a:r>
          </a:p>
        </p:txBody>
      </p:sp>
    </p:spTree>
    <p:extLst>
      <p:ext uri="{BB962C8B-B14F-4D97-AF65-F5344CB8AC3E}">
        <p14:creationId xmlns:p14="http://schemas.microsoft.com/office/powerpoint/2010/main" val="2233209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D83354-C74B-33B7-19DB-3C28A6E3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A5A8FB15-E83D-EF73-9B1F-3D20AC624FE9}"/>
              </a:ext>
            </a:extLst>
          </p:cNvPr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PROTEGGERE &amp; GUIDARE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3EE170B-766B-ED75-1A38-2CC3F32D75E7}"/>
              </a:ext>
            </a:extLst>
          </p:cNvPr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A587A692-2365-48CB-66C4-5D580AE03C1D}"/>
              </a:ext>
            </a:extLst>
          </p:cNvPr>
          <p:cNvSpPr txBox="1"/>
          <p:nvPr/>
        </p:nvSpPr>
        <p:spPr>
          <a:xfrm>
            <a:off x="10972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PROTEGGERE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BDD31321-2C13-83AD-5745-C4DAF7775246}"/>
              </a:ext>
            </a:extLst>
          </p:cNvPr>
          <p:cNvSpPr txBox="1"/>
          <p:nvPr/>
        </p:nvSpPr>
        <p:spPr>
          <a:xfrm>
            <a:off x="1097280" y="22860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 Security by Design — default = negare accesso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 SAST + dep scan + secret detection in CI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 PostgreSQL a meno che... (motivo specifico)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 Scala verticale finche costa meno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 Cache il 20% hot, load test a 2x picco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7AEE1F77-BDD7-2F42-FE47-B54A2671933E}"/>
              </a:ext>
            </a:extLst>
          </p:cNvPr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GUIDARE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49672E9E-E2E9-63CD-5D1F-D3B464D812E8}"/>
              </a:ext>
            </a:extLst>
          </p:cNvPr>
          <p:cNvSpPr txBox="1"/>
          <p:nvPr/>
        </p:nvSpPr>
        <p:spPr>
          <a:xfrm>
            <a:off x="640080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 Cognitive load sostenibile (semplifica)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 15% sprint per debito — non negoziabile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 AI come sistema, non come demo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 Reversibile = decidi ora; Type 1 = ADR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 Mai sorprese, sempre opzioni, quantifica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1A8FFF01-E2C2-EC63-96EA-8A47DA5E5297}"/>
              </a:ext>
            </a:extLst>
          </p:cNvPr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78BFA"/>
                </a:solidFill>
                <a:latin typeface="Inter"/>
              </a:defRPr>
            </a:pPr>
            <a:r>
              <a:t>"Non vendo teoria. Vendo un sistema operativo per decisioni tecniche</a:t>
            </a:r>
            <a:br/>
            <a:r>
              <a:t>che il CEO puo capire e il team puo eseguire."</a:t>
            </a:r>
          </a:p>
        </p:txBody>
      </p:sp>
    </p:spTree>
    <p:extLst>
      <p:ext uri="{BB962C8B-B14F-4D97-AF65-F5344CB8AC3E}">
        <p14:creationId xmlns:p14="http://schemas.microsoft.com/office/powerpoint/2010/main" val="1312047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BFDB30-3744-40EF-7A4C-1C321BF07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E1FCDC68-EFBA-B52F-8FD7-47B0DE6FC564}"/>
              </a:ext>
            </a:extLst>
          </p:cNvPr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rPr dirty="0"/>
              <a:t>VERIFICARE — Dal </a:t>
            </a:r>
            <a:r>
              <a:rPr dirty="0" err="1"/>
              <a:t>codice</a:t>
            </a:r>
            <a:r>
              <a:rPr dirty="0"/>
              <a:t> alla </a:t>
            </a:r>
            <a:r>
              <a:rPr dirty="0" err="1"/>
              <a:t>produzione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92AB021-AC5E-A6EC-B349-B33C6D3D32DA}"/>
              </a:ext>
            </a:extLst>
          </p:cNvPr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CE935FC6-FC46-43A7-B8A3-6C7C06F99962}"/>
              </a:ext>
            </a:extLst>
          </p:cNvPr>
          <p:cNvSpPr/>
          <p:nvPr/>
        </p:nvSpPr>
        <p:spPr>
          <a:xfrm>
            <a:off x="1097280" y="1298448"/>
            <a:ext cx="987552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1381D11A-1D31-0552-4FF5-839EB0C5AFF5}"/>
              </a:ext>
            </a:extLst>
          </p:cNvPr>
          <p:cNvSpPr txBox="1"/>
          <p:nvPr/>
        </p:nvSpPr>
        <p:spPr>
          <a:xfrm>
            <a:off x="1463040" y="14356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Testing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4117EEDC-55A3-38C9-3440-089D744D6064}"/>
              </a:ext>
            </a:extLst>
          </p:cNvPr>
          <p:cNvSpPr txBox="1"/>
          <p:nvPr/>
        </p:nvSpPr>
        <p:spPr>
          <a:xfrm>
            <a:off x="4572000" y="1435608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Coverage alto ≠ fiducia alta.</a:t>
            </a:r>
            <a:br/>
            <a:r>
              <a:t>Testa il comportamento, non come e scritto dentro.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984EE32F-479B-3D2F-7D13-B3878C26E8DE}"/>
              </a:ext>
            </a:extLst>
          </p:cNvPr>
          <p:cNvSpPr/>
          <p:nvPr/>
        </p:nvSpPr>
        <p:spPr>
          <a:xfrm>
            <a:off x="1097280" y="2670048"/>
            <a:ext cx="987552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8093C089-4357-9947-9D5B-0AB418347574}"/>
              </a:ext>
            </a:extLst>
          </p:cNvPr>
          <p:cNvSpPr txBox="1"/>
          <p:nvPr/>
        </p:nvSpPr>
        <p:spPr>
          <a:xfrm>
            <a:off x="1463040" y="28072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Delivery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32719C19-C3FD-C630-24A7-080813D87E01}"/>
              </a:ext>
            </a:extLst>
          </p:cNvPr>
          <p:cNvSpPr txBox="1"/>
          <p:nvPr/>
        </p:nvSpPr>
        <p:spPr>
          <a:xfrm>
            <a:off x="4572000" y="2807208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Deploy e un evento tecnico noioso.</a:t>
            </a:r>
            <a:br/>
            <a:r>
              <a:t>Release e una decisione di prodotto.</a:t>
            </a:r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37B9C238-3972-1224-39A5-C6302E231892}"/>
              </a:ext>
            </a:extLst>
          </p:cNvPr>
          <p:cNvSpPr/>
          <p:nvPr/>
        </p:nvSpPr>
        <p:spPr>
          <a:xfrm>
            <a:off x="1097280" y="4041648"/>
            <a:ext cx="987552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AE5DD5E5-6D3D-F350-569C-40C8C1ED3861}"/>
              </a:ext>
            </a:extLst>
          </p:cNvPr>
          <p:cNvSpPr txBox="1"/>
          <p:nvPr/>
        </p:nvSpPr>
        <p:spPr>
          <a:xfrm>
            <a:off x="1463040" y="41788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Osservabilita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068C7A34-81FD-EFC6-2F9D-E9078529D054}"/>
              </a:ext>
            </a:extLst>
          </p:cNvPr>
          <p:cNvSpPr txBox="1"/>
          <p:nvPr/>
        </p:nvSpPr>
        <p:spPr>
          <a:xfrm>
            <a:off x="4572000" y="4178808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In produzione non hai il debugger.</a:t>
            </a:r>
            <a:br/>
            <a:r>
              <a:t>Hai solo Log, Metriche, Trace.</a:t>
            </a: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EAD27003-9263-8211-CE03-6E4F47CBE78F}"/>
              </a:ext>
            </a:extLst>
          </p:cNvPr>
          <p:cNvSpPr txBox="1"/>
          <p:nvPr/>
        </p:nvSpPr>
        <p:spPr>
          <a:xfrm>
            <a:off x="1066800" y="541324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Inter"/>
              </a:defRPr>
            </a:pPr>
            <a:endParaRPr dirty="0"/>
          </a:p>
          <a:p>
            <a:pPr>
              <a:defRPr sz="1300">
                <a:solidFill>
                  <a:srgbClr val="334155"/>
                </a:solidFill>
                <a:latin typeface="Inter"/>
              </a:defRPr>
            </a:pPr>
            <a:r>
              <a:rPr dirty="0"/>
              <a:t>✓  Pipeline &lt; 10 min</a:t>
            </a:r>
          </a:p>
          <a:p>
            <a:pPr>
              <a:defRPr sz="1300">
                <a:solidFill>
                  <a:srgbClr val="334155"/>
                </a:solidFill>
                <a:latin typeface="Inter"/>
              </a:defRPr>
            </a:pPr>
            <a:r>
              <a:rPr dirty="0"/>
              <a:t>✓  Rollback &lt; 5 min</a:t>
            </a:r>
          </a:p>
          <a:p>
            <a:pPr>
              <a:defRPr sz="1300">
                <a:solidFill>
                  <a:srgbClr val="334155"/>
                </a:solidFill>
                <a:latin typeface="Inter"/>
              </a:defRPr>
            </a:pPr>
            <a:r>
              <a:rPr dirty="0"/>
              <a:t>✓  Golden Signals </a:t>
            </a:r>
            <a:r>
              <a:rPr dirty="0" err="1"/>
              <a:t>su</a:t>
            </a:r>
            <a:r>
              <a:rPr dirty="0"/>
              <a:t> ogni </a:t>
            </a:r>
            <a:r>
              <a:rPr dirty="0" err="1"/>
              <a:t>servizio</a:t>
            </a:r>
            <a:endParaRPr dirty="0"/>
          </a:p>
          <a:p>
            <a:pPr>
              <a:defRPr sz="1300">
                <a:solidFill>
                  <a:srgbClr val="334155"/>
                </a:solidFill>
                <a:latin typeface="Inter"/>
              </a:defRPr>
            </a:pPr>
            <a:r>
              <a:rPr dirty="0"/>
              <a:t>✓  Contract test </a:t>
            </a:r>
            <a:r>
              <a:rPr dirty="0" err="1"/>
              <a:t>tra</a:t>
            </a:r>
            <a:r>
              <a:rPr dirty="0"/>
              <a:t> team</a:t>
            </a:r>
          </a:p>
        </p:txBody>
      </p:sp>
    </p:spTree>
    <p:extLst>
      <p:ext uri="{BB962C8B-B14F-4D97-AF65-F5344CB8AC3E}">
        <p14:creationId xmlns:p14="http://schemas.microsoft.com/office/powerpoint/2010/main" val="2998263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rPr dirty="0"/>
              <a:t>Cosa ho trovato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4D399"/>
                </a:solidFill>
                <a:latin typeface="Inter"/>
              </a:defRPr>
            </a:pPr>
            <a:r>
              <a:t>GIA PRESENTE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700"/>
              </a:spcBef>
              <a:defRPr sz="1400" b="0">
                <a:solidFill>
                  <a:srgbClr val="34D399"/>
                </a:solidFill>
                <a:latin typeface="Inter"/>
              </a:defRPr>
            </a:pPr>
            <a:r>
              <a:t>✓  Shopify — piattaforma solida e scalabile</a:t>
            </a:r>
          </a:p>
          <a:p>
            <a:pPr>
              <a:spcBef>
                <a:spcPts val="700"/>
              </a:spcBef>
              <a:defRPr sz="1400" b="0">
                <a:solidFill>
                  <a:srgbClr val="34D399"/>
                </a:solidFill>
                <a:latin typeface="Inter"/>
              </a:defRPr>
            </a:pPr>
            <a:r>
              <a:t>✓  Jebbit skin diagnostic — personalizzazione CX</a:t>
            </a:r>
          </a:p>
          <a:p>
            <a:pPr>
              <a:spcBef>
                <a:spcPts val="700"/>
              </a:spcBef>
              <a:defRPr sz="1400" b="0">
                <a:solidFill>
                  <a:srgbClr val="34D399"/>
                </a:solidFill>
                <a:latin typeface="Inter"/>
              </a:defRPr>
            </a:pPr>
            <a:r>
              <a:t>✓  Virtual try-on Overskin</a:t>
            </a:r>
          </a:p>
          <a:p>
            <a:pPr>
              <a:spcBef>
                <a:spcPts val="700"/>
              </a:spcBef>
              <a:defRPr sz="1400" b="0">
                <a:solidFill>
                  <a:srgbClr val="34D399"/>
                </a:solidFill>
                <a:latin typeface="Inter"/>
              </a:defRPr>
            </a:pPr>
            <a:r>
              <a:t>✓  VERABILIA loyalty — meccanica definita</a:t>
            </a:r>
          </a:p>
          <a:p>
            <a:pPr>
              <a:spcBef>
                <a:spcPts val="700"/>
              </a:spcBef>
              <a:defRPr sz="1400" b="0">
                <a:solidFill>
                  <a:srgbClr val="34D399"/>
                </a:solidFill>
                <a:latin typeface="Inter"/>
              </a:defRPr>
            </a:pPr>
            <a:r>
              <a:t>✓  14 store con Beauty Expert qualificati</a:t>
            </a:r>
          </a:p>
          <a:p>
            <a:pPr>
              <a:spcBef>
                <a:spcPts val="700"/>
              </a:spcBef>
              <a:defRPr sz="1400" b="0">
                <a:solidFill>
                  <a:srgbClr val="34D399"/>
                </a:solidFill>
                <a:latin typeface="Inter"/>
              </a:defRPr>
            </a:pPr>
            <a:r>
              <a:t>✓  Videoconsulenze gratuite Face + Corpo</a:t>
            </a:r>
          </a:p>
          <a:p>
            <a:pPr>
              <a:spcBef>
                <a:spcPts val="700"/>
              </a:spcBef>
              <a:defRPr sz="1400" b="0">
                <a:solidFill>
                  <a:srgbClr val="34D399"/>
                </a:solidFill>
                <a:latin typeface="Inter"/>
              </a:defRPr>
            </a:pPr>
            <a:r>
              <a:t>✓  Magazine SEO aggiornato settimanalmente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BBF24"/>
                </a:solidFill>
                <a:latin typeface="Inter"/>
              </a:defRPr>
            </a:pPr>
            <a:r>
              <a:t>DA COSTRUIRE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659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700"/>
              </a:spcBef>
              <a:defRPr sz="1400" b="0">
                <a:solidFill>
                  <a:srgbClr val="FBBF24"/>
                </a:solidFill>
                <a:latin typeface="Inter"/>
              </a:defRPr>
            </a:pPr>
            <a:r>
              <a:t>→  Click &amp; collect — non implementato</a:t>
            </a:r>
          </a:p>
          <a:p>
            <a:pPr>
              <a:spcBef>
                <a:spcPts val="700"/>
              </a:spcBef>
              <a:defRPr sz="1400" b="0">
                <a:solidFill>
                  <a:srgbClr val="FBBF24"/>
                </a:solidFill>
                <a:latin typeface="Inter"/>
              </a:defRPr>
            </a:pPr>
            <a:r>
              <a:t>→  Ship-from-store — non implementato</a:t>
            </a:r>
          </a:p>
          <a:p>
            <a:pPr>
              <a:spcBef>
                <a:spcPts val="700"/>
              </a:spcBef>
              <a:defRPr sz="1400" b="0">
                <a:solidFill>
                  <a:srgbClr val="FBBF24"/>
                </a:solidFill>
                <a:latin typeface="Inter"/>
              </a:defRPr>
            </a:pPr>
            <a:r>
              <a:t>→  Stock unificato online + 14 store</a:t>
            </a:r>
          </a:p>
          <a:p>
            <a:pPr>
              <a:spcBef>
                <a:spcPts val="700"/>
              </a:spcBef>
              <a:defRPr sz="1400" b="0">
                <a:solidFill>
                  <a:srgbClr val="FBBF24"/>
                </a:solidFill>
                <a:latin typeface="Inter"/>
              </a:defRPr>
            </a:pPr>
            <a:r>
              <a:t>→  Loyalty cross-channel (in-store)</a:t>
            </a:r>
          </a:p>
          <a:p>
            <a:pPr>
              <a:spcBef>
                <a:spcPts val="700"/>
              </a:spcBef>
              <a:defRPr sz="1400" b="0">
                <a:solidFill>
                  <a:srgbClr val="FBBF24"/>
                </a:solidFill>
                <a:latin typeface="Inter"/>
              </a:defRPr>
            </a:pPr>
            <a:r>
              <a:t>→  CDP / CRM unificato multi-touchpoint</a:t>
            </a:r>
          </a:p>
          <a:p>
            <a:pPr>
              <a:spcBef>
                <a:spcPts val="700"/>
              </a:spcBef>
              <a:defRPr sz="1400" b="0">
                <a:solidFill>
                  <a:srgbClr val="FBBF24"/>
                </a:solidFill>
                <a:latin typeface="Inter"/>
              </a:defRPr>
            </a:pPr>
            <a:r>
              <a:t>→  DevOps e CI/CD strutturati</a:t>
            </a:r>
          </a:p>
          <a:p>
            <a:pPr>
              <a:spcBef>
                <a:spcPts val="700"/>
              </a:spcBef>
              <a:defRPr sz="1400" b="0">
                <a:solidFill>
                  <a:srgbClr val="FBBF24"/>
                </a:solidFill>
                <a:latin typeface="Inter"/>
              </a:defRPr>
            </a:pPr>
            <a:r>
              <a:t>→  Monitoring &amp; alert (500 errors silenti)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87171"/>
                </a:solidFill>
                <a:latin typeface="Inter"/>
              </a:defRPr>
            </a:pPr>
            <a:r>
              <a:t>Ho trovato HTTP 500 su endpoint Shopify standard durante la preparazione. Probabilmente non avete alert su questo.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Il gap piu urgente: l'integrazione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8F0"/>
                </a:solidFill>
                <a:latin typeface="Inter"/>
              </a:defRPr>
            </a:pPr>
            <a:r>
              <a:t>La sfida non e Shopify — Shopify funziona. La sfida e che Shopify non parla con Dynamics NAV.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57400"/>
            <a:ext cx="484632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87171"/>
                </a:solidFill>
                <a:latin typeface="Inter"/>
              </a:defRPr>
            </a:pPr>
            <a:r>
              <a:t>OGGI (probabile)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5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Shopify  →  stock online</a:t>
            </a:r>
          </a:p>
          <a:p>
            <a:pPr>
              <a:spcBef>
                <a:spcPts val="5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NAV       →  stock fisico (14 store)</a:t>
            </a:r>
          </a:p>
          <a:p>
            <a:pPr>
              <a:spcBef>
                <a:spcPts val="5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5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Sync: notturno o manuale</a:t>
            </a:r>
          </a:p>
          <a:p>
            <a:pPr>
              <a:spcBef>
                <a:spcPts val="5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5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Risultato:</a:t>
            </a:r>
          </a:p>
          <a:p>
            <a:pPr>
              <a:spcBef>
                <a:spcPts val="500"/>
              </a:spcBef>
              <a:defRPr sz="1300" b="0">
                <a:solidFill>
                  <a:srgbClr val="F87171"/>
                </a:solidFill>
                <a:latin typeface="Inter"/>
              </a:defRPr>
            </a:pPr>
            <a:r>
              <a:t>  ✗  Nessuno sa dove sta lo stock real-time</a:t>
            </a:r>
          </a:p>
          <a:p>
            <a:pPr>
              <a:spcBef>
                <a:spcPts val="500"/>
              </a:spcBef>
              <a:defRPr sz="1300" b="0">
                <a:solidFill>
                  <a:srgbClr val="F87171"/>
                </a:solidFill>
                <a:latin typeface="Inter"/>
              </a:defRPr>
            </a:pPr>
            <a:r>
              <a:t>  ✗  Click &amp; collect impossibile</a:t>
            </a:r>
          </a:p>
          <a:p>
            <a:pPr>
              <a:spcBef>
                <a:spcPts val="500"/>
              </a:spcBef>
              <a:defRPr sz="1300" b="0">
                <a:solidFill>
                  <a:srgbClr val="F87171"/>
                </a:solidFill>
                <a:latin typeface="Inter"/>
              </a:defRPr>
            </a:pPr>
            <a:r>
              <a:t>  ✗  Ship-from-store impossibile</a:t>
            </a:r>
          </a:p>
          <a:p>
            <a:pPr>
              <a:spcBef>
                <a:spcPts val="500"/>
              </a:spcBef>
              <a:defRPr sz="1300" b="0">
                <a:solidFill>
                  <a:srgbClr val="F87171"/>
                </a:solidFill>
                <a:latin typeface="Inter"/>
              </a:defRPr>
            </a:pPr>
            <a:r>
              <a:t>  ✗  Loyalty cross-channel impossibile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57400"/>
            <a:ext cx="484632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4D399"/>
                </a:solidFill>
                <a:latin typeface="Inter"/>
              </a:defRPr>
            </a:pPr>
            <a: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0604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endParaRPr dirty="0"/>
          </a:p>
          <a:p>
            <a:pPr>
              <a:spcBef>
                <a:spcPts val="5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rPr dirty="0"/>
              <a:t>Middleware Shopify ↔ NAV</a:t>
            </a:r>
          </a:p>
          <a:p>
            <a:pPr>
              <a:spcBef>
                <a:spcPts val="5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rPr dirty="0"/>
              <a:t>Inventory sync real-time</a:t>
            </a:r>
          </a:p>
          <a:p>
            <a:pPr>
              <a:spcBef>
                <a:spcPts val="5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endParaRPr dirty="0"/>
          </a:p>
          <a:p>
            <a:pPr>
              <a:spcBef>
                <a:spcPts val="5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rPr dirty="0" err="1"/>
              <a:t>Risultato</a:t>
            </a:r>
            <a:r>
              <a:rPr dirty="0"/>
              <a:t>:</a:t>
            </a:r>
          </a:p>
          <a:p>
            <a:pPr>
              <a:spcBef>
                <a:spcPts val="500"/>
              </a:spcBef>
              <a:defRPr sz="1300" b="0">
                <a:solidFill>
                  <a:srgbClr val="34D399"/>
                </a:solidFill>
                <a:latin typeface="Inter"/>
              </a:defRPr>
            </a:pPr>
            <a:r>
              <a:rPr dirty="0"/>
              <a:t>  ✓  Stock </a:t>
            </a:r>
            <a:r>
              <a:rPr dirty="0" err="1"/>
              <a:t>unificato</a:t>
            </a:r>
            <a:r>
              <a:rPr dirty="0"/>
              <a:t> (online + store + B2B)</a:t>
            </a:r>
          </a:p>
          <a:p>
            <a:pPr>
              <a:spcBef>
                <a:spcPts val="500"/>
              </a:spcBef>
              <a:defRPr sz="1300" b="0">
                <a:solidFill>
                  <a:srgbClr val="34D399"/>
                </a:solidFill>
                <a:latin typeface="Inter"/>
              </a:defRPr>
            </a:pPr>
            <a:r>
              <a:rPr dirty="0"/>
              <a:t>  ✓  Click &amp; collect </a:t>
            </a:r>
            <a:r>
              <a:rPr dirty="0" err="1"/>
              <a:t>attivo</a:t>
            </a:r>
            <a:endParaRPr dirty="0"/>
          </a:p>
          <a:p>
            <a:pPr>
              <a:spcBef>
                <a:spcPts val="500"/>
              </a:spcBef>
              <a:defRPr sz="1300" b="0">
                <a:solidFill>
                  <a:srgbClr val="34D399"/>
                </a:solidFill>
                <a:latin typeface="Inter"/>
              </a:defRPr>
            </a:pPr>
            <a:r>
              <a:rPr dirty="0"/>
              <a:t>  ✓  Ship-from-store </a:t>
            </a:r>
            <a:r>
              <a:rPr dirty="0" err="1"/>
              <a:t>attivo</a:t>
            </a:r>
            <a:endParaRPr dirty="0"/>
          </a:p>
          <a:p>
            <a:pPr>
              <a:spcBef>
                <a:spcPts val="500"/>
              </a:spcBef>
              <a:defRPr sz="1300" b="0">
                <a:solidFill>
                  <a:srgbClr val="34D399"/>
                </a:solidFill>
                <a:latin typeface="Inter"/>
              </a:defRPr>
            </a:pPr>
            <a:r>
              <a:rPr dirty="0"/>
              <a:t>  ✓  Loyalty cross-channel</a:t>
            </a:r>
          </a:p>
          <a:p>
            <a:pPr>
              <a:spcBef>
                <a:spcPts val="500"/>
              </a:spcBef>
              <a:defRPr sz="1300" b="0">
                <a:solidFill>
                  <a:srgbClr val="34D399"/>
                </a:solidFill>
                <a:latin typeface="Inter"/>
              </a:defRPr>
            </a:pPr>
            <a:r>
              <a:rPr dirty="0"/>
              <a:t>  ✓  </a:t>
            </a:r>
            <a:r>
              <a:rPr dirty="0" err="1"/>
              <a:t>Profilo</a:t>
            </a:r>
            <a:r>
              <a:rPr dirty="0"/>
              <a:t> </a:t>
            </a:r>
            <a:r>
              <a:rPr dirty="0" err="1"/>
              <a:t>cliente</a:t>
            </a:r>
            <a:r>
              <a:rPr dirty="0"/>
              <a:t> </a:t>
            </a:r>
            <a:r>
              <a:rPr dirty="0" err="1"/>
              <a:t>unificato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Questo e il Problema #1. Tutto l'omnichannel dipende da risolverlo prima.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La decisione ERP da non rimandare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8F0"/>
                </a:solidFill>
                <a:latin typeface="Inter"/>
              </a:defRPr>
            </a:pPr>
            <a:r>
              <a:t>Dynamics NAV e fuori mainstream support su versioni pre-2018. La decisione arriva comunque — meglio prenderla con dati.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Opzione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148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148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Contro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Nota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514600"/>
            <a:ext cx="100584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Migra a Business Central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7432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4D399"/>
                </a:solidFill>
                <a:latin typeface="Inter"/>
              </a:defRPr>
            </a:pPr>
            <a:r>
              <a:t>API moderne, cloud-native, supporto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7432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87171"/>
                </a:solidFill>
                <a:latin typeface="Inter"/>
              </a:defRPr>
            </a:pPr>
            <a:r>
              <a:t>6-18 mesi, migrazione dati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74320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Urgente valutare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49039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BBF24"/>
                </a:solidFill>
                <a:latin typeface="Inter"/>
              </a:defRPr>
            </a:pPr>
            <a:r>
              <a:t>Resta su NAV + patch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749039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4D399"/>
                </a:solidFill>
                <a:latin typeface="Inter"/>
              </a:defRPr>
            </a:pPr>
            <a:r>
              <a:t>Continuita, zero rischio migrazione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749039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87171"/>
                </a:solidFill>
                <a:latin typeface="Inter"/>
              </a:defRPr>
            </a:pPr>
            <a:r>
              <a:t>Lock-in crescente, API limitate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749039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Costo nascosto crescente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5488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87171"/>
                </a:solidFill>
                <a:latin typeface="Inter"/>
              </a:defRPr>
            </a:pPr>
            <a:r>
              <a:t>Nuovo ERP (NetSuite/SAP B1)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7548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4D399"/>
                </a:solidFill>
                <a:latin typeface="Inter"/>
              </a:defRPr>
            </a:pPr>
            <a:r>
              <a:t>Liberta massima in futuro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7548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87171"/>
                </a:solidFill>
                <a:latin typeface="Inter"/>
              </a:defRPr>
            </a:pPr>
            <a:r>
              <a:t>Rischio altissimo a 70M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75488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Sconsigliato ora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Prima azione: Assessment NAV → Business Central nei primi 60 giorni. Non decidere a buio.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Il mio approccio: tre priorita in sequenza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6616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D28D9"/>
                </a:solidFill>
                <a:latin typeface="Inter"/>
              </a:defRPr>
            </a:pPr>
            <a:r>
              <a:t>0-90 gg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Inter"/>
              </a:defRPr>
            </a:pPr>
            <a: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Audit stack: Shopify, NAV, CRM, WMS, POS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Integration map — dove i dati si rompono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Inventory sync Shopify ↔ NAV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Monitoring + alert (stop ai 500 silenziosi)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ADR per ogni decisione architetturale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Assessment NAV → Business Central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56616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8745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CF6"/>
                </a:solidFill>
                <a:latin typeface="Inter"/>
              </a:defRPr>
            </a:pPr>
            <a:r>
              <a:t>90-180 gg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Inter"/>
              </a:defRPr>
            </a:pPr>
            <a:r>
              <a:t>OMNICHANNEL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889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Click &amp; collect su tutti i 14 store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Ship-from-store attivo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Loyalty VERABILIA cross-channel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Profilo cliente unificato (online + offline)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CI/CD pipeline strutturata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737360"/>
            <a:ext cx="356616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8745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A78BFA"/>
                </a:solidFill>
                <a:latin typeface="Inter"/>
              </a:defRPr>
            </a:pPr>
            <a:r>
              <a:t>180-365 gg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Inter"/>
              </a:defRPr>
            </a:pPr>
            <a:r>
              <a:t>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7889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Multi-brand architecture (Veralab + Overskin)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CDP: dati aggregati da tutti i touchpoint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Migrazione ERP (se assessment lo conferma)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AI use case su dati unificati</a:t>
            </a:r>
          </a:p>
          <a:p>
            <a:pPr>
              <a:spcBef>
                <a:spcPts val="7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→ Team building + governance stabile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63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A78BFA"/>
                </a:solidFill>
                <a:latin typeface="Inter"/>
              </a:defRPr>
            </a:pPr>
            <a:r>
              <a:t>Entry point: Tech Assessment 3gg (€2.500–3.500) → Fractional CTO 2gg/sett (€7.000–8.000/mese).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Match: il vostro contesto, la mia esperienza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34155"/>
                </a:solidFill>
                <a:latin typeface="Inter"/>
              </a:defRPr>
            </a:pPr>
            <a:r>
              <a:t>VERALAB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A78BFA"/>
                </a:solidFill>
                <a:latin typeface="Inter"/>
              </a:defRPr>
            </a:pPr>
            <a:r>
              <a:t>ELIOS SCOGLIO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965960"/>
            <a:ext cx="100584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Shopify + NAV + 14 store + 870 touchpoint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2286000"/>
            <a:ext cx="82296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Integration architecture, middleware, API-first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700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Picchi traffico su lanci prodotto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852928"/>
            <a:ext cx="82296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0" y="26700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On-sale ad alto volume: spike, inventory contesa, checkout sotto pressione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3697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Inventory non unificato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419856"/>
            <a:ext cx="82296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0" y="323697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Real-time inventory sync su sistemi distribuiti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0390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Multi-brand Veralab + Overskin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986784"/>
            <a:ext cx="82296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380390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Multi-tenant con shared infra e domain separation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7083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Compliance GDPR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4553712"/>
            <a:ext cx="82296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0" y="437083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GDPR quotidiano: PII, audit trail, data minimization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Team lean, scope enorme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5120640"/>
            <a:ext cx="82296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Cognitive load management, delivery cadenzata, ADR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5046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r>
              <a:t>Nessun monitoring strutturato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5687568"/>
            <a:ext cx="82296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0" y="55046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Golden Signals, SLO, alert su ogni servizio critico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L'opportunita che la JD non cita: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8F0"/>
                </a:solidFill>
                <a:latin typeface="Inter"/>
              </a:defRPr>
            </a:pPr>
            <a:r>
              <a:t>Il brand ha gia la base per fare AI in modo serio — manca solo la foundation dati unificata.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A78BFA"/>
                </a:solidFill>
                <a:latin typeface="Inter"/>
              </a:defRPr>
            </a:pPr>
            <a:r>
              <a:t>ASSET DATI GIA PRESENTI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700"/>
              </a:spcBef>
              <a:defRPr sz="1300" b="0">
                <a:solidFill>
                  <a:srgbClr val="34D399"/>
                </a:solidFill>
                <a:latin typeface="Inter"/>
              </a:defRPr>
            </a:pPr>
            <a:r>
              <a:t>→  Skin diagnostic (Jebbit) = profilo cliente strutturato</a:t>
            </a:r>
          </a:p>
          <a:p>
            <a:pPr>
              <a:spcBef>
                <a:spcPts val="700"/>
              </a:spcBef>
              <a:defRPr sz="1300" b="0">
                <a:solidFill>
                  <a:srgbClr val="34D399"/>
                </a:solidFill>
                <a:latin typeface="Inter"/>
              </a:defRPr>
            </a:pPr>
            <a:r>
              <a:t>→  VERABILIA = storico acquisti + comportamento fedele</a:t>
            </a:r>
          </a:p>
          <a:p>
            <a:pPr>
              <a:spcBef>
                <a:spcPts val="700"/>
              </a:spcBef>
              <a:defRPr sz="1300" b="0">
                <a:solidFill>
                  <a:srgbClr val="34D399"/>
                </a:solidFill>
                <a:latin typeface="Inter"/>
              </a:defRPr>
            </a:pPr>
            <a:r>
              <a:t>→  Magazine = corpus contenuti per RAG</a:t>
            </a:r>
          </a:p>
          <a:p>
            <a:pPr>
              <a:spcBef>
                <a:spcPts val="700"/>
              </a:spcBef>
              <a:defRPr sz="1300" b="0">
                <a:solidFill>
                  <a:srgbClr val="34D399"/>
                </a:solidFill>
                <a:latin typeface="Inter"/>
              </a:defRPr>
            </a:pPr>
            <a:r>
              <a:t>→  14 store = dati comportamentali offline</a:t>
            </a:r>
          </a:p>
          <a:p>
            <a:pPr>
              <a:spcBef>
                <a:spcPts val="700"/>
              </a:spcBef>
              <a:defRPr sz="1300" b="0">
                <a:solidFill>
                  <a:srgbClr val="34D399"/>
                </a:solidFill>
                <a:latin typeface="Inter"/>
              </a:defRPr>
            </a:pPr>
            <a:r>
              <a:t>→  870 touchpoint = segnali di acquisto B2B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057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A78BFA"/>
                </a:solidFill>
                <a:latin typeface="Inter"/>
              </a:defRPr>
            </a:pPr>
            <a:r>
              <a:t>USE CASE AD ALTO ROI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423160"/>
            <a:ext cx="52120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24963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Recommendation personalizzata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86207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Inter"/>
              </a:defRPr>
            </a:pPr>
            <a:r>
              <a:t>skin type + acquisti → +conversion +AOV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383280"/>
            <a:ext cx="52120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34564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Chatbot beauty expert 24/7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822191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Inter"/>
              </a:defRPr>
            </a:pPr>
            <a:r>
              <a:t>RAG sulla KB prodotti → scalare le consulenze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343400"/>
            <a:ext cx="52120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44165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78BFA"/>
                </a:solidFill>
                <a:latin typeface="Inter"/>
              </a:defRPr>
            </a:pPr>
            <a:r>
              <a:t>Segmentazione predittiva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78231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8F0"/>
                </a:solidFill>
                <a:latin typeface="Inter"/>
              </a:defRPr>
            </a:pPr>
            <a:r>
              <a:t>propensity Veralab→Overskin → revenue incrementale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A78BFA"/>
                </a:solidFill>
                <a:latin typeface="Inter"/>
              </a:defRPr>
            </a:pPr>
            <a:r>
              <a:t>"Il prerequisito è uno: dati unificati. Foundation prima — poi l'AI funziona davvero."</a:t>
            </a:r>
            <a:br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Il metodo: Misura, Decide, Esegui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56616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D28D9"/>
                </a:solidFill>
                <a:latin typeface="Inter"/>
              </a:defRPr>
            </a:pPr>
            <a:r>
              <a:t>MESE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76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Inter"/>
              </a:defRPr>
            </a:pPr>
            <a:r>
              <a:t>ASCOLTO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Non cambio niente in produzione.</a:t>
            </a:r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Mappo lo stack completo (Shopify, NAV, CRM, WMS, POS, loyalty).</a:t>
            </a:r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Trovo dove i dati si rompono tra sistemi.</a:t>
            </a:r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Output: Tech Map + Roadmap 12 mesi prioritizzata.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56616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CF6"/>
                </a:solidFill>
                <a:latin typeface="Inter"/>
              </a:defRPr>
            </a:pPr>
            <a:r>
              <a:t>MESI 2-3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76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Inter"/>
              </a:defRPr>
            </a:pPr>
            <a:r>
              <a:t>PRIME AZIONI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Inventory sync Shopify ↔ NAV (primo mattone).</a:t>
            </a:r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Monitoring + alert di base su Shopify.</a:t>
            </a:r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ADR per le prime 5 decisioni architetturali.</a:t>
            </a:r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Assessment NAV → Business Central.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91640"/>
            <a:ext cx="356616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A78BFA"/>
                </a:solidFill>
                <a:latin typeface="Inter"/>
              </a:defRPr>
            </a:pPr>
            <a:r>
              <a:t>MESI 4-6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76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Inter"/>
              </a:defRPr>
            </a:pPr>
            <a:r>
              <a:t>OMNICHANNEL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974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Click &amp; collect attivo su tutti i 14 store.</a:t>
            </a:r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Loyalty cross-channel VERABILIA.</a:t>
            </a:r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Profilo cliente unificato online + offline.</a:t>
            </a:r>
          </a:p>
          <a:p>
            <a:pPr>
              <a:spcBef>
                <a:spcPts val="900"/>
              </a:spcBef>
              <a:defRPr sz="1300" b="0">
                <a:solidFill>
                  <a:srgbClr val="E2E8F0"/>
                </a:solidFill>
                <a:latin typeface="Inter"/>
              </a:defRPr>
            </a:pPr>
            <a:r>
              <a:t>CI/CD pipeline strutturata.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A78BFA"/>
                </a:solidFill>
                <a:latin typeface="Inter"/>
              </a:defRPr>
            </a:pPr>
            <a:r>
              <a:t>Prima misuro, poi prometto. I numeri vengono dalla baseline — non da questa presentazione.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Una cosa concreta — trovata prima di questo colloquio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691640"/>
            <a:ext cx="914400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87451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87171"/>
                </a:solidFill>
                <a:latin typeface="Inter"/>
              </a:defRPr>
            </a:pPr>
            <a:r>
              <a:t>PROBLEMA RILEVATO: HTTP 500 su Shopify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800"/>
              </a:spcBef>
              <a:defRPr sz="1500" b="0">
                <a:solidFill>
                  <a:srgbClr val="F87171"/>
                </a:solidFill>
                <a:latin typeface="Inter"/>
              </a:defRPr>
            </a:pPr>
            <a:r>
              <a:t>Endpoint coinvolti:  /blogs/news  —  API standard Shopify</a:t>
            </a:r>
          </a:p>
          <a:p>
            <a:pPr>
              <a:spcBef>
                <a:spcPts val="800"/>
              </a:spcBef>
              <a:defRPr sz="1500" b="0">
                <a:solidFill>
                  <a:srgbClr val="E2E8F0"/>
                </a:solidFill>
                <a:latin typeface="Inter"/>
              </a:defRPr>
            </a:pPr>
            <a:endParaRPr/>
          </a:p>
          <a:p>
            <a:pPr>
              <a:spcBef>
                <a:spcPts val="800"/>
              </a:spcBef>
              <a:defRPr sz="1500" b="0">
                <a:solidFill>
                  <a:srgbClr val="E2E8F0"/>
                </a:solidFill>
                <a:latin typeface="Inter"/>
              </a:defRPr>
            </a:pPr>
            <a:r>
              <a:t>Causa probabile: conflitto tra app di terze parti o liquid template</a:t>
            </a:r>
          </a:p>
          <a:p>
            <a:pPr>
              <a:spcBef>
                <a:spcPts val="800"/>
              </a:spcBef>
              <a:defRPr sz="1500" b="0">
                <a:solidFill>
                  <a:srgbClr val="E2E8F0"/>
                </a:solidFill>
                <a:latin typeface="Inter"/>
              </a:defRPr>
            </a:pPr>
            <a:r>
              <a:t>Impatto: contenuti magazine non raggiungibili, API instabili</a:t>
            </a:r>
          </a:p>
          <a:p>
            <a:pPr>
              <a:spcBef>
                <a:spcPts val="800"/>
              </a:spcBef>
              <a:defRPr sz="1500" b="0">
                <a:solidFill>
                  <a:srgbClr val="E2E8F0"/>
                </a:solidFill>
                <a:latin typeface="Inter"/>
              </a:defRPr>
            </a:pPr>
            <a:r>
              <a:t>Monitoring attuale: probabilmente nessuno (nessun alert visibile)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BBF24"/>
                </a:solidFill>
                <a:latin typeface="Inter"/>
              </a:defRPr>
            </a:pPr>
            <a:r>
              <a:t>Non è un dipendente che lo trova in settimana 1. È un professionista che lo trova prima di scrivere.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406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8F0"/>
                </a:solidFill>
                <a:latin typeface="Inter"/>
              </a:defRPr>
            </a:pPr>
            <a:r>
              <a:t>Questo è il tipo di lavoro che faccio prima di firmare qualsiasi contratto.</a:t>
            </a:r>
            <a:br/>
            <a:r>
              <a:t>ma perche avere visibilita completa e il prerequisito di tutto il resto.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Tre domande che voglio fare a voi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8F0"/>
                </a:solidFill>
                <a:latin typeface="Inter"/>
              </a:defRPr>
            </a:pPr>
            <a:r>
              <a:t>Le risposte cambiano la priorita della roadmap. Le voglio capire oggi, non in un report.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331720"/>
            <a:ext cx="9966960" cy="1143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17320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6D28D9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423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Inter"/>
              </a:defRPr>
            </a:pPr>
            <a:r>
              <a:t>Come funziona oggi la sincronizzazione inventory tra Shopify e i 14 store?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89864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Inter"/>
              </a:defRPr>
            </a:pPr>
            <a:r>
              <a:t>Questa risposta determina quanto e urgente e complessa la priority #1.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657600"/>
            <a:ext cx="9966960" cy="1143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37490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8B5CF6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749039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Inter"/>
              </a:defRPr>
            </a:pPr>
            <a:r>
              <a:t>Overskin e sullo stesso account Shopify o e uno store separato?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22452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Inter"/>
              </a:defRPr>
            </a:pPr>
            <a:r>
              <a:t>Cambia radicalmente l'architettura multi-brand e il data model del cliente.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983479"/>
            <a:ext cx="9966960" cy="1143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20" y="50749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A78BFA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074919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Inter"/>
              </a:defRPr>
            </a:pPr>
            <a:r>
              <a:t>Chi ha preso le decisioni architetturali finora? Esiste un backlog tecnico?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550407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Inter"/>
              </a:defRPr>
            </a:pPr>
            <a:r>
              <a:t>Determina il punto di partenza: costruire da zero o evolvere una direzione esistente.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1903</Words>
  <Application>Microsoft Office PowerPoint</Application>
  <PresentationFormat>Widescreen</PresentationFormat>
  <Paragraphs>299</Paragraphs>
  <Slides>18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Scoglio, Elios</cp:lastModifiedBy>
  <cp:revision>7</cp:revision>
  <dcterms:created xsi:type="dcterms:W3CDTF">2013-01-27T09:14:16Z</dcterms:created>
  <dcterms:modified xsi:type="dcterms:W3CDTF">2026-07-15T10:31:36Z</dcterms:modified>
  <cp:category/>
</cp:coreProperties>
</file>