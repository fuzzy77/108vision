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1152000"/>
            <a:ext cx="9144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FFFFFF"/>
                </a:solidFill>
                <a:latin typeface="Inter"/>
              </a:rPr>
              <a:t>ELIOS SCOGLIO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872000"/>
            <a:ext cx="100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ter"/>
              </a:rPr>
              <a:t>Software &amp; Architecture Manager  |  Fractional 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340000"/>
            <a:ext cx="2916000" cy="36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592000"/>
            <a:ext cx="10044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E2E8F0"/>
                </a:solidFill>
                <a:latin typeface="Inter"/>
              </a:rPr>
              <a:t>Secondo colloquio — </a:t>
            </a:r>
            <a:r>
              <a:rPr sz="1700" b="1">
                <a:solidFill>
                  <a:srgbClr val="A78BFA"/>
                </a:solidFill>
                <a:latin typeface="Inter"/>
              </a:rPr>
              <a:t>Veralab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240000"/>
            <a:ext cx="100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2E8F0"/>
                </a:solidFill>
                <a:latin typeface="Inter"/>
              </a:rPr>
              <a:t>"Operativo nella transizione. Strategico nel regime."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6300000"/>
            <a:ext cx="10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108 Vision — Costruiamo la direzione, non solo il codice.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Perché questa conversazione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Veralab non è più soltanto un e-commerce.</a:t>
            </a:r>
          </a:p>
          <a:p>
            <a:r>
              <a:rPr sz="600">
                <a:latin typeface="Inter"/>
              </a:rPr>
              <a:t/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È un ecosistema che deve collegare:</a:t>
            </a:r>
          </a:p>
          <a:p>
            <a:r>
              <a:rPr sz="600">
                <a:latin typeface="Inter"/>
              </a:rPr>
              <a:t/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commercio digitale e punti vendita fisici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ERP e logistica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CRM e loyalty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marketing, dati cliente, nuovi brand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crescita nazionale e internazionale</a:t>
            </a:r>
          </a:p>
          <a:p>
            <a:r>
              <a:rPr sz="800">
                <a:latin typeface="Inter"/>
              </a:rPr>
              <a:t/>
            </a:r>
          </a:p>
          <a:p>
            <a:r>
              <a:rPr sz="1400" b="0">
                <a:solidFill>
                  <a:srgbClr val="334155"/>
                </a:solidFill>
                <a:latin typeface="Inter"/>
              </a:rPr>
              <a:t>L'azienda aumenta il retail fisico, investe in CRM &amp; Data e prepara una crescita guidata dai dati.</a:t>
            </a:r>
          </a:p>
          <a:p>
            <a:r>
              <a:rPr sz="800">
                <a:latin typeface="Inter"/>
              </a:rPr>
              <a:t/>
            </a:r>
          </a:p>
          <a:p>
            <a:r>
              <a:rPr sz="1600" b="1">
                <a:solidFill>
                  <a:srgbClr val="A78BFA"/>
                </a:solidFill>
                <a:latin typeface="Inter"/>
              </a:rPr>
              <a:t>In questa fase la tecnologia deve diventare il sistema operativo della crescita.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La mia proposta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2E8F0"/>
                </a:solidFill>
                <a:latin typeface="Inter"/>
              </a:rPr>
              <a:t>Non una consulenza esterna che osserva e produce documenti.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Un Fractional CTO operativo, capace di:</a:t>
            </a:r>
          </a:p>
          <a:p>
            <a:r>
              <a:rPr sz="600">
                <a:latin typeface="Inter"/>
              </a:rPr>
              <a:t/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prendere ownership delle priorità tecniche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collegare strategia, tecnologia e business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intervenire direttamente sui problemi critici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supportare il responsabile tecnico e il team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coordinare fornitori e piattaforme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costruire processi decisionali più chiari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→  rendere progressivamente autonoma l'organizzazione</a:t>
            </a:r>
          </a:p>
          <a:p>
            <a:r>
              <a:rPr sz="800">
                <a:latin typeface="Inter"/>
              </a:rPr>
              <a:t/>
            </a:r>
          </a:p>
          <a:p>
            <a:r>
              <a:rPr sz="1300" b="0">
                <a:solidFill>
                  <a:srgbClr val="334155"/>
                </a:solidFill>
                <a:latin typeface="Inter"/>
              </a:rPr>
              <a:t>Nella fase iniziale il coinvolgimento sarà più intenso. Con il consolidamento il presidio verrà progressivamente ridotto e concentrato sulle decisioni strategiche.</a:t>
            </a:r>
          </a:p>
          <a:p>
            <a:r>
              <a:rPr sz="600">
                <a:latin typeface="Inter"/>
              </a:rPr>
              <a:t/>
            </a:r>
          </a:p>
          <a:p>
            <a:r>
              <a:rPr sz="1500" b="0">
                <a:solidFill>
                  <a:srgbClr val="A78BFA"/>
                </a:solidFill>
                <a:latin typeface="Inter"/>
              </a:rPr>
              <a:t>"Il risultato non è rendermi indispensabile. È rendere l'organizzazione più capace anche quando non sono presente."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Valore dal primo giorno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Comprendo e intervengo contemporaneamente — dal giorno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980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Inter"/>
              </a:rPr>
              <a:t>INTERVENTI IMMEDIATI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Rendere visibili errori e anomalie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Chiarire chi decide e chi è responsabile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Eliminare blocchi decisionali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Ridurre i rischi dei rilasci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Verificare affidabilità delle integrazioni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Introdurre gestione incidenti minima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Eliminare attività manuali ripetitive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Ordinare backlog per impatto sul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980000"/>
            <a:ext cx="486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Inter"/>
              </a:rPr>
              <a:t>DIFFERENZE CHE CONTANO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alert prima della segnalazione cliente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rilascio reversibile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processo con un responsabile chiaro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Un'integrazione che non perde eventi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dato cliente affidabile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Una decisione documentata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Una campagna senza emergenza tecnica</a:t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✓  Un problema ricorrente che smette di ripetersi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 cinque pilastri del mio lavoro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68000" y="1620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20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Trasformare gli obiettivi aziendali in priorità tecnologiche comprensibili, misurabili e sostenibili.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8000" y="2484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Architettura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84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Costruire sistemi capaci di sostenere crescita, nuovi canali e processi senza moltiplicare fragilità.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8000" y="3348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348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Creare ownership, chiarezza e capacità decisionale. Leva per il responsabile tecnico, non livello che lo rallenta.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4212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212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Rendere visibili decisioni, costi, rischi e risultati. Mai sorprese. Sempre opzioni. Trade-off espliciti.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8000" y="5076000"/>
            <a:ext cx="273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A78BFA"/>
                </a:solidFill>
                <a:latin typeface="Inter"/>
              </a:rPr>
              <a:t>AI &amp; Innovazione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76000"/>
            <a:ext cx="687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Portare innovazione reale dove produce risultati misurabili. Prima il problema, poi il processo, poi il modello.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Il metodo tecnico — 15 pilastri, 4 macroaree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Inter"/>
              </a:rPr>
              <a:t>15 pilastri tecnici organizzati in 4 macro-aree: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088000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0000" y="2088000"/>
            <a:ext cx="90000" cy="79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68000" y="2160000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COSTRUIRE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4000" y="2160000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Architettura, Design, Qualità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4000" y="21600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Costruire solo la complessità necessaria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3041999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0000" y="3041999"/>
            <a:ext cx="90000" cy="79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8000" y="3113999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VERIFICARE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4000" y="3113999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Testing, Delivery, Osservabilità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4000" y="3113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Un sistema non è governabile se non è osservabile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0000" y="3996000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0000" y="3996000"/>
            <a:ext cx="90000" cy="79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8000" y="4067999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PROTEGGERE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4000" y="4067999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Sicurezza, Dati, Scalabilità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4000" y="4067999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Prima misuriamo. Poi ottimizziamo. Infine scaliamo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4950000"/>
            <a:ext cx="9864000" cy="79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0000" y="4950000"/>
            <a:ext cx="90000" cy="792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8000" y="5022000"/>
            <a:ext cx="2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GUIDARE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4000" y="5022000"/>
            <a:ext cx="410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  <a:latin typeface="Inter"/>
              </a:rPr>
              <a:t>Team, Debito, AI, Decisioni, Costi, Comunicazione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5022000"/>
            <a:ext cx="27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La tecnologia produce valore quando genera decisioni migliori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Come lavorerei — tre fasi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3564000" cy="46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3564000" cy="54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28D9"/>
                </a:solidFill>
                <a:latin typeface="Inter"/>
              </a:rPr>
              <a:t>0–60 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COMPRENDERE
E INTERVENIRE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20000"/>
            <a:ext cx="334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Incontri con stakeholder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Mappa sistemi, integrazioni, dati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Mappa delle responsabilità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Identificazione rischi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Primi interventi ad alto impatto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Definizione metriche iniziali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000" y="1440000"/>
            <a:ext cx="3564000" cy="46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8000" y="1440000"/>
            <a:ext cx="3564000" cy="54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8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  <a:latin typeface="Inter"/>
              </a:rPr>
              <a:t>60–180 gg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STABILIZZARE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00" y="2520000"/>
            <a:ext cx="334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Ownership flussi critici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Osservabilità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Gestione incidenti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Processo decisionale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Governance fornitori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Roadmap condivisa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Riduzione punti di dipendenza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440000"/>
            <a:ext cx="3564000" cy="468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6000" y="1440000"/>
            <a:ext cx="3564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6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Inter"/>
              </a:rPr>
              <a:t>180+ gg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RENDERE
AUTONOMI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000" y="2520000"/>
            <a:ext cx="3348000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Trasferimento competenze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Mentoring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Documentazione essenziale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Delega progressiva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Rituali di governance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Presidio strategico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  <a:latin typeface="Inter"/>
              </a:rPr>
              <a:t>La presenza iniziale è maggiore. Si riduce in funzione dell'autonomia raggiunta — non del tempo trascorso.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Il percorso AI — 5 fasi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0000" y="1548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0000" y="1548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68000" y="1620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1.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0000" y="1620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Infrastruttura, qualità dati, maturità processi, cultura e competenze, governance e sicurezza.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2411999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000" y="2411999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8000" y="2484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2. Casi d'uso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0" y="2484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Valore economico, frequenza problema, disponibilità dati, complessità integrazione, rischio, time-to-result.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3276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0000" y="3276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68000" y="3347999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3. Esperimento misurabile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3347999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Baseline → risultato atteso → utenti reali → KPI → criteri di valutazione → decisione finale: procedere, modificare o interrompere.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4140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0000" y="4140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68000" y="4212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4. Industrializzazione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0" y="4212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Integrazioni reali, controllo accessi, osservabilità, gestione errori, versionamento, costi, fallback, eval periodiche.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5004000"/>
            <a:ext cx="9864000" cy="72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0000" y="5004000"/>
            <a:ext cx="90000" cy="72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8000" y="5076000"/>
            <a:ext cx="32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  <a:latin typeface="Inter"/>
              </a:rPr>
              <a:t>5. Adozione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00" y="5076000"/>
            <a:ext cx="61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L'AI produce valore solo quando entra nei processi delle persone: formazione, linee guida, ownership, ROI monitoring.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  <a:latin typeface="Inter"/>
              </a:rPr>
              <a:t>L'AI non parte dalla scelta dello strumento. Parte dalla maturità reale dell'organizzazione.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 miei principi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440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440000"/>
            <a:ext cx="90000" cy="115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151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Sistema, non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872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Una demo può impressionare. Un sistema deve essere affidabile, controllabile, integrato e mantenibile.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000" y="2772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0000" y="2772000"/>
            <a:ext cx="90000" cy="115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000" y="284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Eval prima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3204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Prima di aumentare utenti o casi d'uso, definire come misurare la qualità. Senza eval = slot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000" y="4104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0000" y="4104000"/>
            <a:ext cx="90000" cy="115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000" y="4176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Cost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4536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Non tutti i problemi richiedono il modello più potente. Scegliere in funzione di compito, rischio e volume.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1440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000" y="1440000"/>
            <a:ext cx="90000" cy="115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2000" y="1512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Rischi espliciti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2000" y="1872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Prompt injection, data leakage, allucinazioni, errori non rilevati, lock-in fornitore, costi incontrollati.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000" y="2772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000" y="2772000"/>
            <a:ext cx="90000" cy="115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2000" y="2844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Build il core, buy il resto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2000" y="3204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Costruire il vantaggio competitivo. Acquistare la commodity. Ibrido per mantenere il valore differenziante.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0000" y="4104000"/>
            <a:ext cx="4860000" cy="115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0000" y="4104000"/>
            <a:ext cx="90000" cy="115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2000" y="4176000"/>
            <a:ext cx="45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  <a:latin typeface="Inter"/>
              </a:rPr>
              <a:t>Responsabilità umana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2000" y="4536000"/>
            <a:ext cx="45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L'AI può supportare una decisione. La responsabilità finale deve restare assegnata a una persona.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Cosa cambia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0000" y="1440000"/>
            <a:ext cx="3564000" cy="54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D28D9"/>
                </a:solidFill>
                <a:latin typeface="Inter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Per il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Maggiore controllo sugli investimenti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Rischi visibili prima delle emergenze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Roadmap collegata alla strategia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Alternative comprensibili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Responsabilità definite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Migliore gestione fornitori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Minore dipendenza da singole persone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Maggiore prevedibilità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8000" y="1440000"/>
            <a:ext cx="3564000" cy="54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8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5CF6"/>
                </a:solidFill>
                <a:latin typeface="Inter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8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Per il responsabile tecnico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Supporto nelle decisioni complesse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Condivisione della pressione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Priorità più stabili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Architettura più chiara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Maggiore forza nel dialogo col business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Meno lavoro invisibile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Crescita della leadership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Maggiore autonomia del team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440000"/>
            <a:ext cx="3564000" cy="4860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6000" y="1440000"/>
            <a:ext cx="3564000" cy="54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6000" y="1548000"/>
            <a:ext cx="3348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6000" y="1835999"/>
            <a:ext cx="334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Inter"/>
              </a:rPr>
              <a:t>Per il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6000" y="2520000"/>
            <a:ext cx="3348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Inter"/>
              </a:rPr>
              <a:t>→  Maggiore prevedibilità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Dati più affidabili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Meno dipendenza dalle urgenze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Valutazione tecnica anticipata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Migliore integrazione CRM/loyalty/e-comm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Tempi e vincoli comunicati prima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Automazioni con impatto misurabile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300" b="0">
                <a:solidFill>
                  <a:srgbClr val="E2E8F0"/>
                </a:solidFill>
                <a:latin typeface="Inter"/>
              </a:rPr>
              <a:t>→  Sperimentazione AI governata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Come misurare il risultato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Inter"/>
              </a:rPr>
              <a:t>Le metriche definitive verranno concordate dopo una baseline iniziale.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052000"/>
            <a:ext cx="486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Inter"/>
              </a:rPr>
              <a:t>OPERATIVITÀ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Affidabilità dei flussi critici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Numero e durata degli incidenti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Tempo di rilevazione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Tempo di ripristino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Velocità dei rilasci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Percentuale rilasci problematici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Tempo per abilitare una campagna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2052000"/>
            <a:ext cx="486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Inter"/>
              </a:rPr>
              <a:t>QUALITÀ &amp; COSTO</a:t>
            </a:r>
          </a:p>
          <a:p>
            <a:r>
              <a:rPr sz="400">
                <a:latin typeface="Inter"/>
              </a:rPr>
              <a:t/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Errori nelle integrazioni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Qualità dei dati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Attività manuali eliminate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Decisioni tecniche bloccate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Dipendenza da singole persone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Costi evitati o ottimizzati</a:t>
            </a:r>
          </a:p>
          <a:p>
            <a:r>
              <a:rPr sz="1400" b="0">
                <a:solidFill>
                  <a:srgbClr val="E2E8F0"/>
                </a:solidFill>
                <a:latin typeface="Inter"/>
              </a:rPr>
              <a:t>→  Valore prodotto dalle iniziative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8BFA"/>
                </a:solidFill>
                <a:latin typeface="Inter"/>
              </a:rPr>
              <a:t>Non prometto numeri prima di aver misurato il punto di partenza. Prometto chiarezza su cosa misurare e quale decisione deve supportare.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Verifica findings — cosa è cambiato?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1548000"/>
            <a:ext cx="1004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Inter"/>
              </a:rPr>
              <a:t>Ri-verificato live su veralab.it in data odierna — stesso script del primo colloquio.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98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155"/>
                </a:solidFill>
                <a:latin typeface="Inter"/>
              </a:rPr>
              <a:t>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8000" y="1980000"/>
            <a:ext cx="16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155"/>
                </a:solidFill>
                <a:latin typeface="Inter"/>
              </a:rP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96000" y="1980000"/>
            <a:ext cx="1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155"/>
                </a:solidFill>
                <a:latin typeface="Inter"/>
              </a:rPr>
              <a:t>STATO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4000" y="1980000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4155"/>
                </a:solidFill>
                <a:latin typeface="Inter"/>
              </a:rPr>
              <a:t>NOTA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000" y="2232000"/>
            <a:ext cx="12780000" cy="1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394000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/blogs/news  HTTP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8000" y="239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CRITICO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6000" y="2394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NON CORRETTO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4000" y="2394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Errore ancora presente al momento della verifica.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2970000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Nessun alerting su errori 5xx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8000" y="2970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ALTO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6000" y="297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NON CORRETTO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4000" y="2970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Il 500 non ha generato alert — scoperto solo da monitoraggio attivo.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3546000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Content-Security-Policy assente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8000" y="3546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ALTO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6000" y="354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NON CORRETTO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4000" y="3546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Header CSP ancora assente sull'intero dominio.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000" y="4121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X-Frame-Options assente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8000" y="4121999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MEDIO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6000" y="4121999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  <a:latin typeface="Inter"/>
              </a:rPr>
              <a:t>NON CORRETTO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4000" y="4121999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Header ancora mancante.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000" y="4698000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Homepage 765 KB — LCP stimato 3-4s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8000" y="4698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MEDIO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6000" y="469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DA VERIFICARE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4000" y="4698000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Non misurabile da esterno senza rendering; richiede Lighthouse in-session.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000" y="5273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Structured data JSON-LD assente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8000" y="5273999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MEDIO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6000" y="5273999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DA VERIFICARE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4000" y="5273999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Richiede verifica diretta del source page.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000" y="5849999"/>
            <a:ext cx="4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Inter"/>
              </a:rPr>
              <a:t>Overskin — placeholder Aruba, non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8000" y="5849999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Inter"/>
              </a:rPr>
              <a:t>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6000" y="5849999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4155"/>
                </a:solidFill>
                <a:latin typeface="Inter"/>
              </a:rPr>
              <a:t>N/A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4000" y="5849999"/>
            <a:ext cx="37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Inter"/>
              </a:rPr>
              <a:t>Stato commerciale non tecnico — fuori scope della verifica.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  <a:latin typeface="Inter"/>
              </a:rPr>
              <a:t>4 problemi su 6 non risolti. Il pattern conferma l'assenza di monitoring strutturato — nessuno sa quando succede.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468000"/>
            <a:ext cx="1004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ter"/>
              </a:rPr>
              <a:t>Il prossimo passo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188000"/>
            <a:ext cx="72000" cy="720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" y="1548000"/>
            <a:ext cx="10044000" cy="151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000" y="1548000"/>
            <a:ext cx="108000" cy="1512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000" y="1655999"/>
            <a:ext cx="954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A78BFA"/>
                </a:solidFill>
                <a:latin typeface="Inter"/>
              </a:rPr>
              <a:t>"Entro con un coinvolgimento operativo forte, porto valore immediato sulle priorità che contano, costruisco il sistema di governance e accompagno team e azienda verso una progressiva autonomia."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348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4155"/>
                </a:solidFill>
                <a:latin typeface="Inter"/>
              </a:rPr>
              <a:t>PRIMO PASSO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671999"/>
            <a:ext cx="10044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2E8F0"/>
                </a:solidFill>
                <a:latin typeface="Inter"/>
              </a:rPr>
              <a:t>Una sessione con CEO, responsabile tecnico e marketing per definire:</a:t>
            </a:r>
          </a:p>
          <a:p>
            <a:r>
              <a:rPr sz="500">
                <a:latin typeface="Inter"/>
              </a:rPr>
              <a:t/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1.  i risultati aziendali prioritari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2.  i flussi tecnologici più critici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3.  le decisioni oggi bloccate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4.  il primo risultato visibile</a:t>
            </a:r>
          </a:p>
          <a:p>
            <a:r>
              <a:rPr sz="1500" b="0">
                <a:solidFill>
                  <a:srgbClr val="E2E8F0"/>
                </a:solidFill>
                <a:latin typeface="Inter"/>
              </a:rPr>
              <a:t>5.  responsabilità e modalità di collaborazione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6120000"/>
            <a:ext cx="10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Inter"/>
              </a:rPr>
              <a:t>108 Vision — Costruiamo la direzione, non solo il codice.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