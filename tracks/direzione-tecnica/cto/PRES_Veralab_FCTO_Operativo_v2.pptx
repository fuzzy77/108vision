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1152000"/>
            <a:ext cx="91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FFFFF"/>
                </a:solidFill>
                <a:latin typeface="Inter"/>
              </a:rPr>
              <a:t>ELIOS SCOGLIO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872000"/>
            <a:ext cx="100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A78BFA"/>
                </a:solidFill>
                <a:latin typeface="Inter"/>
              </a:rPr>
              <a:t>Software &amp; Architecture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2340000"/>
            <a:ext cx="2916000" cy="36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0000" y="2592000"/>
            <a:ext cx="86761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A78BFA"/>
                </a:solidFill>
                <a:latin typeface="Inter"/>
              </a:rPr>
              <a:t>Veralab</a:t>
            </a:r>
            <a:endParaRPr sz="1700" b="1" dirty="0">
              <a:solidFill>
                <a:srgbClr val="A78BF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0000" y="3240000"/>
            <a:ext cx="1004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2E8F0"/>
                </a:solidFill>
                <a:latin typeface="Inter"/>
              </a:rPr>
              <a:t>"Operativo nella transizione. Strategico nel regime."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6300000"/>
            <a:ext cx="1004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108 Vision — Costruiamo la direzione, non solo il codice.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Perché questa conversazione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Veralab non è più soltanto un e-commerce.</a:t>
            </a:r>
          </a:p>
          <a:p>
            <a:endParaRPr sz="1600" b="1">
              <a:solidFill>
                <a:srgbClr val="E2E8F0"/>
              </a:solidFill>
              <a:latin typeface="Inter"/>
            </a:endParaRP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È un ecosistema che deve collegare:</a:t>
            </a:r>
          </a:p>
          <a:p>
            <a:endParaRPr sz="1500" b="0">
              <a:solidFill>
                <a:srgbClr val="E2E8F0"/>
              </a:solidFill>
              <a:latin typeface="Inter"/>
            </a:endParaRP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commercio digitale e punti vendita fisici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ERP e logistica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CRM e loyalty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marketing, dati cliente, nuovi brand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crescita nazionale e internazionale</a:t>
            </a:r>
          </a:p>
          <a:p>
            <a:endParaRPr sz="1400" b="0">
              <a:solidFill>
                <a:srgbClr val="E2E8F0"/>
              </a:solidFill>
              <a:latin typeface="Inter"/>
            </a:endParaRPr>
          </a:p>
          <a:p>
            <a:r>
              <a:rPr sz="1400" b="0">
                <a:solidFill>
                  <a:srgbClr val="334155"/>
                </a:solidFill>
                <a:latin typeface="Inter"/>
              </a:rPr>
              <a:t>L'azienda aumenta il retail fisico, investe in CRM &amp; Data e prepara una crescita guidata dai dati.</a:t>
            </a:r>
          </a:p>
          <a:p>
            <a:endParaRPr sz="1400" b="0">
              <a:solidFill>
                <a:srgbClr val="334155"/>
              </a:solidFill>
              <a:latin typeface="Inter"/>
            </a:endParaRPr>
          </a:p>
          <a:p>
            <a:r>
              <a:rPr sz="1600" b="1">
                <a:solidFill>
                  <a:srgbClr val="A78BFA"/>
                </a:solidFill>
                <a:latin typeface="Inter"/>
              </a:rPr>
              <a:t>In questa fase la tecnologia deve diventare il sistema operativo della crescita.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La mia proposta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E2E8F0"/>
                </a:solidFill>
                <a:latin typeface="Inter"/>
              </a:rPr>
              <a:t>Non </a:t>
            </a:r>
            <a:r>
              <a:rPr sz="1600" b="1" dirty="0" err="1">
                <a:solidFill>
                  <a:srgbClr val="E2E8F0"/>
                </a:solidFill>
                <a:latin typeface="Inter"/>
              </a:rPr>
              <a:t>una</a:t>
            </a:r>
            <a:r>
              <a:rPr sz="1600" b="1" dirty="0">
                <a:solidFill>
                  <a:srgbClr val="E2E8F0"/>
                </a:solidFill>
                <a:latin typeface="Inter"/>
              </a:rPr>
              <a:t> </a:t>
            </a:r>
            <a:r>
              <a:rPr sz="1600" b="1" dirty="0" err="1">
                <a:solidFill>
                  <a:srgbClr val="E2E8F0"/>
                </a:solidFill>
                <a:latin typeface="Inter"/>
              </a:rPr>
              <a:t>consulenza</a:t>
            </a:r>
            <a:r>
              <a:rPr sz="1600" b="1" dirty="0">
                <a:solidFill>
                  <a:srgbClr val="E2E8F0"/>
                </a:solidFill>
                <a:latin typeface="Inter"/>
              </a:rPr>
              <a:t> </a:t>
            </a:r>
            <a:r>
              <a:rPr sz="1600" b="1" dirty="0" err="1">
                <a:solidFill>
                  <a:srgbClr val="E2E8F0"/>
                </a:solidFill>
                <a:latin typeface="Inter"/>
              </a:rPr>
              <a:t>esterna</a:t>
            </a:r>
            <a:r>
              <a:rPr sz="1600" b="1" dirty="0">
                <a:solidFill>
                  <a:srgbClr val="E2E8F0"/>
                </a:solidFill>
                <a:latin typeface="Inter"/>
              </a:rPr>
              <a:t> </a:t>
            </a:r>
            <a:r>
              <a:rPr sz="1600" b="1" dirty="0" err="1">
                <a:solidFill>
                  <a:srgbClr val="E2E8F0"/>
                </a:solidFill>
                <a:latin typeface="Inter"/>
              </a:rPr>
              <a:t>che</a:t>
            </a:r>
            <a:r>
              <a:rPr sz="1600" b="1" dirty="0">
                <a:solidFill>
                  <a:srgbClr val="E2E8F0"/>
                </a:solidFill>
                <a:latin typeface="Inter"/>
              </a:rPr>
              <a:t> </a:t>
            </a:r>
            <a:r>
              <a:rPr sz="1600" b="1" dirty="0" err="1">
                <a:solidFill>
                  <a:srgbClr val="E2E8F0"/>
                </a:solidFill>
                <a:latin typeface="Inter"/>
              </a:rPr>
              <a:t>osserva</a:t>
            </a:r>
            <a:r>
              <a:rPr sz="1600" b="1" dirty="0">
                <a:solidFill>
                  <a:srgbClr val="E2E8F0"/>
                </a:solidFill>
                <a:latin typeface="Inter"/>
              </a:rPr>
              <a:t> e produce </a:t>
            </a:r>
            <a:r>
              <a:rPr sz="1600" b="1" dirty="0" err="1">
                <a:solidFill>
                  <a:srgbClr val="E2E8F0"/>
                </a:solidFill>
                <a:latin typeface="Inter"/>
              </a:rPr>
              <a:t>documenti</a:t>
            </a:r>
            <a:r>
              <a:rPr sz="1600" b="1" dirty="0">
                <a:solidFill>
                  <a:srgbClr val="E2E8F0"/>
                </a:solidFill>
                <a:latin typeface="Inter"/>
              </a:rPr>
              <a:t>.</a:t>
            </a:r>
          </a:p>
          <a:p>
            <a:r>
              <a:rPr lang="it-IT" sz="1500" b="0" dirty="0">
                <a:solidFill>
                  <a:srgbClr val="E2E8F0"/>
                </a:solidFill>
                <a:latin typeface="Inter"/>
              </a:rPr>
              <a:t>Una figura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operativ</a:t>
            </a:r>
            <a:r>
              <a:rPr lang="it-IT" sz="1500" b="0" dirty="0">
                <a:solidFill>
                  <a:srgbClr val="E2E8F0"/>
                </a:solidFill>
                <a:latin typeface="Inter"/>
              </a:rPr>
              <a:t>a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capace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di:</a:t>
            </a:r>
          </a:p>
          <a:p>
            <a:endParaRPr sz="1500" b="0" dirty="0">
              <a:solidFill>
                <a:srgbClr val="E2E8F0"/>
              </a:solidFill>
              <a:latin typeface="Inter"/>
            </a:endParaRPr>
          </a:p>
          <a:p>
            <a:r>
              <a:rPr sz="1500" b="0" dirty="0">
                <a:solidFill>
                  <a:srgbClr val="E2E8F0"/>
                </a:solidFill>
                <a:latin typeface="Inter"/>
              </a:rPr>
              <a:t>→ 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prendere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ownership delle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priorità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tecniche</a:t>
            </a:r>
            <a:endParaRPr sz="1500" b="0" dirty="0">
              <a:solidFill>
                <a:srgbClr val="E2E8F0"/>
              </a:solidFill>
              <a:latin typeface="Inter"/>
            </a:endParaRPr>
          </a:p>
          <a:p>
            <a:r>
              <a:rPr sz="1500" b="0" dirty="0">
                <a:solidFill>
                  <a:srgbClr val="E2E8F0"/>
                </a:solidFill>
                <a:latin typeface="Inter"/>
              </a:rPr>
              <a:t>→ 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collegare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strategia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,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tecnologia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e business</a:t>
            </a:r>
          </a:p>
          <a:p>
            <a:r>
              <a:rPr sz="1500" b="0" dirty="0">
                <a:solidFill>
                  <a:srgbClr val="E2E8F0"/>
                </a:solidFill>
                <a:latin typeface="Inter"/>
              </a:rPr>
              <a:t>→ 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intervenire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direttamente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sui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problemi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critici</a:t>
            </a:r>
            <a:endParaRPr sz="1500" b="0" dirty="0">
              <a:solidFill>
                <a:srgbClr val="E2E8F0"/>
              </a:solidFill>
              <a:latin typeface="Inter"/>
            </a:endParaRPr>
          </a:p>
          <a:p>
            <a:r>
              <a:rPr sz="1500" b="0" dirty="0">
                <a:solidFill>
                  <a:srgbClr val="E2E8F0"/>
                </a:solidFill>
                <a:latin typeface="Inter"/>
              </a:rPr>
              <a:t>→ 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supportare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il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responsabile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tecnico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e il team</a:t>
            </a:r>
          </a:p>
          <a:p>
            <a:r>
              <a:rPr sz="1500" b="0" dirty="0">
                <a:solidFill>
                  <a:srgbClr val="E2E8F0"/>
                </a:solidFill>
                <a:latin typeface="Inter"/>
              </a:rPr>
              <a:t>→ 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coordinare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fornitori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e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piattaforme</a:t>
            </a:r>
            <a:endParaRPr sz="1500" b="0" dirty="0">
              <a:solidFill>
                <a:srgbClr val="E2E8F0"/>
              </a:solidFill>
              <a:latin typeface="Inter"/>
            </a:endParaRPr>
          </a:p>
          <a:p>
            <a:r>
              <a:rPr sz="1500" b="0" dirty="0">
                <a:solidFill>
                  <a:srgbClr val="E2E8F0"/>
                </a:solidFill>
                <a:latin typeface="Inter"/>
              </a:rPr>
              <a:t>→ 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costruire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processi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decisionali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più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chiari</a:t>
            </a:r>
            <a:endParaRPr sz="1500" b="0" dirty="0">
              <a:solidFill>
                <a:srgbClr val="E2E8F0"/>
              </a:solidFill>
              <a:latin typeface="Inter"/>
            </a:endParaRPr>
          </a:p>
          <a:p>
            <a:r>
              <a:rPr sz="1500" b="0" dirty="0">
                <a:solidFill>
                  <a:srgbClr val="E2E8F0"/>
                </a:solidFill>
                <a:latin typeface="Inter"/>
              </a:rPr>
              <a:t>→ 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rendere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progressivamente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autonoma</a:t>
            </a:r>
            <a:r>
              <a:rPr sz="1500" b="0" dirty="0">
                <a:solidFill>
                  <a:srgbClr val="E2E8F0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E2E8F0"/>
                </a:solidFill>
                <a:latin typeface="Inter"/>
              </a:rPr>
              <a:t>l'organizzazione</a:t>
            </a:r>
            <a:endParaRPr sz="1500" b="0" dirty="0">
              <a:solidFill>
                <a:srgbClr val="E2E8F0"/>
              </a:solidFill>
              <a:latin typeface="Inter"/>
            </a:endParaRPr>
          </a:p>
          <a:p>
            <a:endParaRPr sz="1500" b="0" dirty="0">
              <a:solidFill>
                <a:srgbClr val="E2E8F0"/>
              </a:solidFill>
              <a:latin typeface="Inter"/>
            </a:endParaRPr>
          </a:p>
          <a:p>
            <a:r>
              <a:rPr sz="1300" b="0" dirty="0">
                <a:solidFill>
                  <a:srgbClr val="334155"/>
                </a:solidFill>
                <a:latin typeface="Inter"/>
              </a:rPr>
              <a:t>Nella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fase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iniziale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il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coinvolgimento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sarà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più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intenso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. Con il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consolidamento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il presidio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verrà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progressivamente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ridotto e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concentrato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sulle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decisioni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Inter"/>
              </a:rPr>
              <a:t>strategiche</a:t>
            </a:r>
            <a:r>
              <a:rPr sz="1300" b="0" dirty="0">
                <a:solidFill>
                  <a:srgbClr val="334155"/>
                </a:solidFill>
                <a:latin typeface="Inter"/>
              </a:rPr>
              <a:t>.</a:t>
            </a:r>
          </a:p>
          <a:p>
            <a:endParaRPr sz="1300" b="0" dirty="0">
              <a:solidFill>
                <a:srgbClr val="334155"/>
              </a:solidFill>
              <a:latin typeface="Inter"/>
            </a:endParaRPr>
          </a:p>
          <a:p>
            <a:r>
              <a:rPr sz="1500" b="0" dirty="0">
                <a:solidFill>
                  <a:srgbClr val="A78BFA"/>
                </a:solidFill>
                <a:latin typeface="Inter"/>
              </a:rPr>
              <a:t>"Il </a:t>
            </a:r>
            <a:r>
              <a:rPr sz="1500" b="0" dirty="0" err="1">
                <a:solidFill>
                  <a:srgbClr val="A78BFA"/>
                </a:solidFill>
                <a:latin typeface="Inter"/>
              </a:rPr>
              <a:t>risultato</a:t>
            </a:r>
            <a:r>
              <a:rPr sz="1500" b="0" dirty="0">
                <a:solidFill>
                  <a:srgbClr val="A78BFA"/>
                </a:solidFill>
                <a:latin typeface="Inter"/>
              </a:rPr>
              <a:t> non è </a:t>
            </a:r>
            <a:r>
              <a:rPr sz="1500" b="0" dirty="0" err="1">
                <a:solidFill>
                  <a:srgbClr val="A78BFA"/>
                </a:solidFill>
                <a:latin typeface="Inter"/>
              </a:rPr>
              <a:t>rendermi</a:t>
            </a:r>
            <a:r>
              <a:rPr sz="1500" b="0" dirty="0">
                <a:solidFill>
                  <a:srgbClr val="A78BFA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A78BFA"/>
                </a:solidFill>
                <a:latin typeface="Inter"/>
              </a:rPr>
              <a:t>indispensabile</a:t>
            </a:r>
            <a:r>
              <a:rPr sz="1500" b="0" dirty="0">
                <a:solidFill>
                  <a:srgbClr val="A78BFA"/>
                </a:solidFill>
                <a:latin typeface="Inter"/>
              </a:rPr>
              <a:t>. È </a:t>
            </a:r>
            <a:r>
              <a:rPr sz="1500" b="0" dirty="0" err="1">
                <a:solidFill>
                  <a:srgbClr val="A78BFA"/>
                </a:solidFill>
                <a:latin typeface="Inter"/>
              </a:rPr>
              <a:t>rendere</a:t>
            </a:r>
            <a:r>
              <a:rPr sz="1500" b="0" dirty="0">
                <a:solidFill>
                  <a:srgbClr val="A78BFA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A78BFA"/>
                </a:solidFill>
                <a:latin typeface="Inter"/>
              </a:rPr>
              <a:t>l'organizzazione</a:t>
            </a:r>
            <a:r>
              <a:rPr sz="1500" b="0" dirty="0">
                <a:solidFill>
                  <a:srgbClr val="A78BFA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A78BFA"/>
                </a:solidFill>
                <a:latin typeface="Inter"/>
              </a:rPr>
              <a:t>più</a:t>
            </a:r>
            <a:r>
              <a:rPr sz="1500" b="0" dirty="0">
                <a:solidFill>
                  <a:srgbClr val="A78BFA"/>
                </a:solidFill>
                <a:latin typeface="Inter"/>
              </a:rPr>
              <a:t> </a:t>
            </a:r>
            <a:r>
              <a:rPr sz="1500" b="0">
                <a:solidFill>
                  <a:srgbClr val="A78BFA"/>
                </a:solidFill>
                <a:latin typeface="Inter"/>
              </a:rPr>
              <a:t>capace."</a:t>
            </a:r>
            <a:endParaRPr sz="1500" b="0" dirty="0">
              <a:solidFill>
                <a:srgbClr val="A78BFA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Valore dal primo giorno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Comprendo e intervengo contemporaneamente — dal giorno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980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78BFA"/>
                </a:solidFill>
                <a:latin typeface="Inter"/>
              </a:rPr>
              <a:t>INTERVENTI IMMEDIATI</a:t>
            </a:r>
          </a:p>
          <a:p>
            <a:endParaRPr sz="1200" b="1">
              <a:solidFill>
                <a:srgbClr val="A78BFA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Rendere visibili errori e anomalie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Chiarire chi decide e chi è responsabile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Eliminare blocchi decisionali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Ridurre i rischi dei rilasci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Verificare affidabilità delle integrazioni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Introdurre gestione incidenti minima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Eliminare attività manuali ripetitive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Ordinare backlog per impatto sul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1980000"/>
            <a:ext cx="48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Inter"/>
              </a:rPr>
              <a:t>DIFFERENZE CHE CONTANO</a:t>
            </a:r>
          </a:p>
          <a:p>
            <a:endParaRPr sz="1200" b="1">
              <a:solidFill>
                <a:srgbClr val="34D399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 alert prima della segnalazione cliente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 rilascio reversibile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 processo con un responsabile chiaro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Un'integrazione che non perde eventi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 dato cliente affidabile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Una decisione documentata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Una campagna senza emergenza tecnica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 problema ricorrente che smette di ripetersi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I cinque pilastri del mio lavoro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000" y="1620000"/>
            <a:ext cx="27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Inter"/>
              </a:rPr>
              <a:t>Strategia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20000"/>
            <a:ext cx="68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Trasformare gli obiettivi aziendali in priorità tecnologiche comprensibili, misurabili e sostenibili.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8000" y="2484000"/>
            <a:ext cx="27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Inter"/>
              </a:rPr>
              <a:t>Architettura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84000"/>
            <a:ext cx="68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Costruire sistemi capaci di sostenere crescita, nuovi canali e processi senza moltiplicare fragilità.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8000" y="3348000"/>
            <a:ext cx="27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Inter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348000"/>
            <a:ext cx="68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Creare ownership, chiarezza e capacità decisionale. Leva per il responsabile tecnico, non livello che lo rallenta.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8000" y="4212000"/>
            <a:ext cx="27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Inter"/>
              </a:rPr>
              <a:t>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212000"/>
            <a:ext cx="68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Rendere visibili decisioni, costi, rischi e risultati. Mai sorprese. Sempre opzioni. Trade-off espliciti.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8000" y="5076000"/>
            <a:ext cx="27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Inter"/>
              </a:rPr>
              <a:t>AI &amp; Innovazione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076000"/>
            <a:ext cx="68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Portare innovazione reale dove produce risultati misurabili. Prima il problema, poi il processo, poi il modello.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Il metodo tecnico — 15 pilastri, 4 macroaree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  <a:latin typeface="Inter"/>
              </a:rPr>
              <a:t>15 pilastri tecnici organizzati in 4 macro-aree: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088000"/>
            <a:ext cx="9864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0000" y="2088000"/>
            <a:ext cx="90000" cy="79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8000" y="2160000"/>
            <a:ext cx="25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COSTRUIRE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4000" y="2160000"/>
            <a:ext cx="41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Inter"/>
              </a:rPr>
              <a:t>Architettura, Design, Qualità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4000" y="2160000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Costruire solo la complessità necessaria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3041999"/>
            <a:ext cx="9864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0000" y="3041999"/>
            <a:ext cx="90000" cy="79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68000" y="3113999"/>
            <a:ext cx="25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VERIFICARE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4000" y="3113999"/>
            <a:ext cx="41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Inter"/>
              </a:rPr>
              <a:t>Testing, Delivery, Osservabilità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4000" y="3113999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Un sistema non è governabile se non è osservabile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0000" y="3996000"/>
            <a:ext cx="9864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0000" y="3996000"/>
            <a:ext cx="90000" cy="792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68000" y="4067999"/>
            <a:ext cx="25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PROTEGGERE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4000" y="4067999"/>
            <a:ext cx="41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Inter"/>
              </a:rPr>
              <a:t>Sicurezza, Dati, Scalabilità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4000" y="4067999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Prima misuriamo. Poi ottimizziamo. Infine scaliamo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" y="4950000"/>
            <a:ext cx="9864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80000" y="4950000"/>
            <a:ext cx="90000" cy="792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000" y="5022000"/>
            <a:ext cx="25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GUIDARE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4000" y="5022000"/>
            <a:ext cx="41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Inter"/>
              </a:rPr>
              <a:t>Team, Debito, AI, Decisioni, Costi, Comunicazione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4000" y="5022000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La tecnologia produce valore quando genera decisioni migliori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Come lavorerei — tre fasi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3564000" cy="46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3564000" cy="54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28D9"/>
                </a:solidFill>
                <a:latin typeface="Inter"/>
              </a:rPr>
              <a:t>0–60 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COMPRENDERE
E INTERVENIRE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520000"/>
            <a:ext cx="3348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Incontri con stakeholder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Mappa sistemi, integrazioni, dati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Mappa delle responsabilità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Identificazione rischi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Primi interventi ad alto impatto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Definizione metriche iniziali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000" y="1440000"/>
            <a:ext cx="3564000" cy="46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8000" y="1440000"/>
            <a:ext cx="3564000" cy="54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8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  <a:latin typeface="Inter"/>
              </a:rPr>
              <a:t>60–180 gg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STABILIZZARE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000" y="2520000"/>
            <a:ext cx="3348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Ownership flussi critici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Osservabilità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Gestione incidenti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Processo decisionale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Governance fornitori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Roadmap condivisa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Riduzione punti di dipendenza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6000" y="1440000"/>
            <a:ext cx="3564000" cy="46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6000" y="1440000"/>
            <a:ext cx="3564000" cy="54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6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Inter"/>
              </a:rPr>
              <a:t>180+ gg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6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RENDERE
AUTONOMI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6000" y="2520000"/>
            <a:ext cx="3348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Trasferimento competenze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Mentoring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Documentazione essenziale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Delega progressiva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Rituali di governance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Presidio strategico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8BFA"/>
                </a:solidFill>
                <a:latin typeface="Inter"/>
              </a:rPr>
              <a:t>La presenza iniziale è maggiore. Si riduce in funzione dell'autonomia raggiunta — non del tempo trascorso.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Il percorso AI — 5 fasi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0000" y="1548000"/>
            <a:ext cx="9864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80000" y="1548000"/>
            <a:ext cx="90000" cy="72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68000" y="162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1.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0000" y="1620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Infrastruttura, qualità dati, maturità processi, cultura e competenze, governance e sicurezza.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0" y="2411999"/>
            <a:ext cx="9864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0000" y="2411999"/>
            <a:ext cx="90000" cy="72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68000" y="2484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2. Casi d'uso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0" y="2484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Valore economico, frequenza problema, disponibilità dati, complessità integrazione, rischio, time-to-result.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0" y="3276000"/>
            <a:ext cx="9864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0000" y="3276000"/>
            <a:ext cx="90000" cy="72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68000" y="334799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3. Esperimento misurabile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0" y="3347999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Baseline → risultato atteso → utenti reali → KPI → criteri di valutazione → decisione finale: procedere, modificare o interrompere.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4140000"/>
            <a:ext cx="9864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0000" y="4140000"/>
            <a:ext cx="90000" cy="72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8000" y="421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4. Industrializzazione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0" y="4212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Integrazioni reali, controllo accessi, osservabilità, gestione errori, versionamento, costi, fallback, eval periodiche.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" y="5004000"/>
            <a:ext cx="9864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80000" y="5004000"/>
            <a:ext cx="90000" cy="72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000" y="507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5. Adozione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0000" y="5076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L'AI produce valore solo quando entra nei processi delle persone: formazione, linee guida, ownership, ROI monitoring.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8BFA"/>
                </a:solidFill>
                <a:latin typeface="Inter"/>
              </a:rPr>
              <a:t>L'AI non parte dalla scelta dello strumento. Parte dalla maturità reale dell'organizzazione.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I miei principi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0000" y="1440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0000" y="1440000"/>
            <a:ext cx="90000" cy="115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000" y="1512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Sistema, non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872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Una demo può impressionare. Un sistema deve essere affidabile, controllabile, integrato e mantenibile.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000" y="2772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0000" y="2772000"/>
            <a:ext cx="90000" cy="115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000" y="2844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Eval prima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000" y="3204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Prima di aumentare utenti o casi d'uso, definire come misurare la qualità. Senza eval = slot machine.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4104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0000" y="4104000"/>
            <a:ext cx="90000" cy="115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000" y="4176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Cost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4536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Non tutti i problemi richiedono il modello più potente. Scegliere in funzione di compito, rischio e volume.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1440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0000" y="1440000"/>
            <a:ext cx="90000" cy="115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2000" y="1512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Rischi espliciti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2000" y="1872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Prompt injection, data leakage, allucinazioni, errori non rilevati, lock-in fornitore, costi incontrollati.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000" y="2772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0000" y="2772000"/>
            <a:ext cx="90000" cy="115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2000" y="2844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Build il core, buy il resto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2000" y="3204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Costruire il vantaggio competitivo. Acquistare la commodity. Ibrido per mantenere il valore differenziante.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000" y="4104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0000" y="4104000"/>
            <a:ext cx="90000" cy="115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52000" y="4176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Responsabilità umana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2000" y="4536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L'AI può supportare una decisione. La responsabilità finale deve restare assegnata a una persona.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Cosa cambia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3564000" cy="48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3564000" cy="54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Per il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520000"/>
            <a:ext cx="3348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Maggiore controllo sugli investimenti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Rischi visibili prima delle emergenze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Roadmap collegata alla strategia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Alternative comprensibili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Responsabilità definite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Migliore gestione fornitori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Minore dipendenza da singole persone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Maggiore prevedibilità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000" y="1440000"/>
            <a:ext cx="3564000" cy="48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8000" y="1440000"/>
            <a:ext cx="3564000" cy="54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8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8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Per il responsabile tecnico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000" y="2520000"/>
            <a:ext cx="3348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Supporto nelle decisioni complesse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Condivisione della pressione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Priorità più stabili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Architettura più chiara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Maggiore forza nel dialogo col business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Meno lavoro invisibile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Crescita della leadership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Maggiore autonomia del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6000" y="1440000"/>
            <a:ext cx="3564000" cy="48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6000" y="1440000"/>
            <a:ext cx="3564000" cy="54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6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6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Per il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6000" y="2520000"/>
            <a:ext cx="3348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Maggiore prevedibilità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Dati più affidabili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Meno dipendenza dalle urgenze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Valutazione tecnica anticipata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Migliore integrazione CRM/loyalty/e-comm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Tempi e vincoli comunicati prima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Automazioni con impatto misurabile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Sperimentazione AI governata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Come misurare il risultato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Le metriche definitive verranno concordate dopo una baseline iniziale.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052000"/>
            <a:ext cx="486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78BFA"/>
                </a:solidFill>
                <a:latin typeface="Inter"/>
              </a:rPr>
              <a:t>OPERATIVITÀ</a:t>
            </a:r>
          </a:p>
          <a:p>
            <a:endParaRPr sz="1200" b="1">
              <a:solidFill>
                <a:srgbClr val="A78BFA"/>
              </a:solidFill>
              <a:latin typeface="Inter"/>
            </a:endParaRP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Affidabilità dei flussi critici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Numero e durata degli incidenti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Tempo di rilevazione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Tempo di ripristino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Velocità dei rilasci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Percentuale rilasci problematici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Tempo per abilitare una campagna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0" y="2052000"/>
            <a:ext cx="486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Inter"/>
              </a:rPr>
              <a:t>QUALITÀ &amp; COSTO</a:t>
            </a:r>
          </a:p>
          <a:p>
            <a:endParaRPr sz="1200" b="1">
              <a:solidFill>
                <a:srgbClr val="34D399"/>
              </a:solidFill>
              <a:latin typeface="Inter"/>
            </a:endParaRP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Errori nelle integrazioni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Qualità dei dati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Attività manuali eliminate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Decisioni tecniche bloccate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Dipendenza da singole persone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Costi evitati o ottimizzati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Valore prodotto dalle iniziative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8BFA"/>
                </a:solidFill>
                <a:latin typeface="Inter"/>
              </a:rPr>
              <a:t>Non prometto numeri prima di aver misurato il punto di partenza. Prometto chiarezza su cosa misurare e quale decisione deve supportare.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Security &amp; Resilience Assessment — 23 luglio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155"/>
                </a:solidFill>
                <a:latin typeface="Inter"/>
              </a:rPr>
              <a:t>Assessment esterno, non autenticato, non invasivo — veralab.it e sottodomini pubblici.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9080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Inter"/>
              </a:rPr>
              <a:t>SICUREZZA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2196000"/>
            <a:ext cx="5400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0000" y="2196000"/>
            <a:ext cx="64800" cy="792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6000" y="2239200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Inter"/>
              </a:rPr>
              <a:t>SEC-01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2000" y="22392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Login B2B via HTTP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000" y="2520000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Inter"/>
              </a:rPr>
              <a:t>b2b.veralab.it raggiungibile e funzionante in HTTP. Credenziali e cookie in chiaro. HSTS assente sul sottodominio.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" y="3096000"/>
            <a:ext cx="5400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0000" y="3096000"/>
            <a:ext cx="64800" cy="792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6000" y="3139199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Inter"/>
              </a:rPr>
              <a:t>SEC-02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2000" y="3139199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Cookie sessione B2B privi di Secure/HttpOnly/SameSite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000" y="3420000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Inter"/>
              </a:rPr>
              <a:t>PHPSESSID e last_session_id senza attributi di sicurezza. Cookie inviabili in HTTP. IP e timestamp memorizzati lato client.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000" y="3996000"/>
            <a:ext cx="5400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0000" y="3996000"/>
            <a:ext cx="64800" cy="79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6000" y="4039199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SEC-03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2000" y="4039199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Anti-clickjacking assente sul frontend headless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000" y="4320000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Inter"/>
              </a:rPr>
              <a:t>Homepage, login e Magazine privi di frame-ancestors e X-Frame-Options. Checkout Shopify è invece correttamente protetto.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" y="4896000"/>
            <a:ext cx="5400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000" y="4896000"/>
            <a:ext cx="64800" cy="79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6000" y="4939200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SEC-04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2000" y="49392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Content Security Policy assente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000" y="5220000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Inter"/>
              </a:rPr>
              <a:t>Nonce già generati server-side ma CSP non inviata. Nessuna difesa aggiuntiva contro XSS e script di terze parti.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00" y="5796000"/>
            <a:ext cx="5400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0000" y="5796000"/>
            <a:ext cx="64800" cy="79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6000" y="5839200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SEC-05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2000" y="58392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CORS permissivo su api2.veralabtech.net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000" y="6120000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Inter"/>
              </a:rPr>
              <a:t>Origin arbitraria riflessa con Allow-Credentials: true. Sfruttabile se endpoint espongono dati autenticati.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8000" y="1908000"/>
            <a:ext cx="52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Inter"/>
              </a:rPr>
              <a:t>RESILIENZA &amp; CONFIGURAZIONE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8000" y="2196000"/>
            <a:ext cx="5220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8000" y="2196000"/>
            <a:ext cx="64800" cy="79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13999" y="2239200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REL-01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0000" y="2239200"/>
            <a:ext cx="41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Route inesistenti restituiscono 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3999" y="2520000"/>
            <a:ext cx="49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Inter"/>
              </a:rPr>
              <a:t>/.well-known/security.txt e route /it-it/* casuali → 500. Collection inesistenti → soft 404 con redirect a homepage.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8000" y="3096000"/>
            <a:ext cx="5220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88000" y="3096000"/>
            <a:ext cx="64800" cy="79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13999" y="3139199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REL-02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0000" y="3139199"/>
            <a:ext cx="41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/blogs/news — rotta legacy in errore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13999" y="3420000"/>
            <a:ext cx="49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Inter"/>
              </a:rPr>
              <a:t>Non linkata dalla navigazione corrente. Redirect mancante verso /it-it/magazine/. Possibile impatto su backlink storici.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8000" y="3996000"/>
            <a:ext cx="5220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88000" y="3996000"/>
            <a:ext cx="64800" cy="79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13999" y="4039199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REL-03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0000" y="4039199"/>
            <a:ext cx="41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Payload HTML molto grandi e pagine non cacheabili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3999" y="4320000"/>
            <a:ext cx="49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Inter"/>
              </a:rPr>
              <a:t>Homepage ~775 KB, Magazine ~1,67 MB. oxygen-full-page-cache: uncacheable. TTFB osservato 4-8s. Rischio su picchi e lanci.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8000" y="4896000"/>
            <a:ext cx="5220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8000" y="4896000"/>
            <a:ext cx="64800" cy="79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13999" y="4939200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CFG-01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0000" y="4939200"/>
            <a:ext cx="41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Cookie con durata 82 anni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13999" y="5220000"/>
            <a:ext cx="49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Inter"/>
              </a:rPr>
              <a:t>Max-Age=2592000000 (probabilmente ms invece di sec). Interessa country, language, cartId. Attributi Secure/HttpOnly/SameSite OK.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  <a:latin typeface="Inter"/>
              </a:rPr>
              <a:t>Nessuna evidenza di compromissione rilevata. Priorità assoluta: portale B2B — credenziali mai in HTTP.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Cosa funziona già — controlli con esito positivo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155"/>
                </a:solidFill>
                <a:latin typeface="Inter"/>
              </a:rPr>
              <a:t>L'obiettività richiede di citare anche ciò che è configurato correttamente.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980000"/>
            <a:ext cx="2808000" cy="414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" y="1980000"/>
            <a:ext cx="2808000" cy="54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2088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0000" y="2376000"/>
            <a:ext cx="25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TLS / HTTPS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060000"/>
            <a:ext cx="2592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Inter"/>
              </a:rPr>
              <a:t>→  SSL Labs: A+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Solo TLS 1.2 e 1.3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Redirect HTTP → HTTPS funzionante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www → apex redirect corretto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HSTS max-age=31536000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6000" y="1980000"/>
            <a:ext cx="2808000" cy="414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46000" y="1980000"/>
            <a:ext cx="2808000" cy="54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6000" y="2088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6000" y="2376000"/>
            <a:ext cx="25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Cookie principale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6000" y="3060000"/>
            <a:ext cx="2592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Inter"/>
              </a:rPr>
              <a:t>→  HttpOnly; Secure; SameSite=Lax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X-Content-Type-Options: nosniff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TRACE disabilitato (405)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Nessuno stack trace visibile nei 500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CDN Cloudflare attivo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2000" y="1980000"/>
            <a:ext cx="2808000" cy="414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52000" y="1980000"/>
            <a:ext cx="2808000" cy="54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32000" y="2088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2000" y="2376000"/>
            <a:ext cx="25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Checkout &amp; landing Shopify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2000" y="3060000"/>
            <a:ext cx="2592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Inter"/>
              </a:rPr>
              <a:t>→  Redirect HTTP → HTTPS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X-Frame-Options: DENY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CSP con frame-ancestors none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noindex su pagine sensibili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X-Content-Type-Options: nosniff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7999" y="1980000"/>
            <a:ext cx="2808000" cy="414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57999" y="1980000"/>
            <a:ext cx="2808000" cy="54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37999" y="2088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37999" y="2376000"/>
            <a:ext cx="25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Frontend &amp; 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7999" y="3060000"/>
            <a:ext cx="2592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Inter"/>
              </a:rPr>
              <a:t>→  Source map .js → 404 (non esposti)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Parametri di ricerca codificati correttamente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Dominio tecnico Shopify: richiede autenticazione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Magazine operativo su /it-it/magazine/</a:t>
            </a:r>
          </a:p>
          <a:p>
            <a:endParaRPr sz="1200" b="0">
              <a:solidFill>
                <a:srgbClr val="E2E8F0"/>
              </a:solidFill>
              <a:latin typeface="Inter"/>
            </a:endParaRPr>
          </a:p>
          <a:p>
            <a:r>
              <a:rPr sz="1200" b="0">
                <a:solidFill>
                  <a:srgbClr val="E2E8F0"/>
                </a:solidFill>
                <a:latin typeface="Inter"/>
              </a:rPr>
              <a:t>→  JSON-LD OnlineStore presente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  <a:latin typeface="Inter"/>
              </a:rPr>
              <a:t>La base è solida. I problemi rilevati sono reali ma risolvibili — non indicano la necessità di sostituire Shopify.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Priorità di intervento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3564000" cy="48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3564000" cy="54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Inter"/>
              </a:rPr>
              <a:t>ENTRO 24 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B2B — ALTA PRIORITÀ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520000"/>
            <a:ext cx="3348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Forzare HTTPS su tutto il portale B2B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Correggere attributi cookie B2B (Secure, HttpOnly, SameSite)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Attivare HSTS sul sottodominio B2B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Verificare link/email/QR che puntano al B2B in HTTP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Correggere redirect /blogs/news → /it-it/magazine/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Validare configurazione CORS su api2.veralabtech.net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000" y="1440000"/>
            <a:ext cx="3564000" cy="48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8000" y="1440000"/>
            <a:ext cx="3564000" cy="54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8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  <a:latin typeface="Inter"/>
              </a:rPr>
              <a:t>ENTRO 7 GIORNI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HARDENING &amp;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000" y="2520000"/>
            <a:ext cx="3348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Route inesistenti → sempre 404, mai 500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Eliminare soft 404 e redirect generici a homepage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Introdurre frame-ancestors + X-Frame-Options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Attivare CSP in modalità Report-Only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Configurare alerting su error ratio 5xx per route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Correggere durata cookie (2.592.000 sec, non ms)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Pubblicare /.well-known/security.txt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6000" y="1440000"/>
            <a:ext cx="3564000" cy="48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6000" y="1440000"/>
            <a:ext cx="3564000" cy="54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6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Inter"/>
              </a:rPr>
              <a:t>ENTRO 30 GIORNI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6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GOVERNANCE &amp; PENTEST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6000" y="2520000"/>
            <a:ext cx="3348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CSP in enforcement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Ridurre payload HTML e dati serializzati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Introdurre caching edge (stale-while-revalidate)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Real User Monitoring + Core Web Vitals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Performance budget + Security Definition of Done</a:t>
            </a:r>
          </a:p>
          <a:p>
            <a:endParaRPr sz="1300" b="0">
              <a:solidFill>
                <a:srgbClr val="E2E8F0"/>
              </a:solidFill>
              <a:latin typeface="Inter"/>
            </a:endParaRP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Penetration test autenticato: account, B2B, checkout,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La sequenza riflette impatto e reversibilità — non complessità tecnica. Nessuno di questi interventi richiede un refactoring del frontend.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Il prossimo passo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0000" y="1548000"/>
            <a:ext cx="10044000" cy="151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0000" y="1548000"/>
            <a:ext cx="108000" cy="151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000" y="1655999"/>
            <a:ext cx="954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78BFA"/>
                </a:solidFill>
                <a:latin typeface="Inter"/>
              </a:rPr>
              <a:t>"Entro con un coinvolgimento operativo forte, porto valore immediato sulle priorità che contano, costruisco il sistema di governance e accompagno team e azienda verso una progressiva autonomia."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348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4155"/>
                </a:solidFill>
                <a:latin typeface="Inter"/>
              </a:rPr>
              <a:t>PRIMO PASSO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671999"/>
            <a:ext cx="10044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2E8F0"/>
                </a:solidFill>
                <a:latin typeface="Inter"/>
              </a:rPr>
              <a:t>Una sessione con CEO, responsabile tecnico e marketing per definire:</a:t>
            </a:r>
          </a:p>
          <a:p>
            <a:endParaRPr sz="1500" b="0">
              <a:solidFill>
                <a:srgbClr val="E2E8F0"/>
              </a:solidFill>
              <a:latin typeface="Inter"/>
            </a:endParaRP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1.  i risultati aziendali prioritari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2.  i flussi tecnologici più critici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3.  le decisioni oggi bloccate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4.  il primo risultato visibile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5.  responsabilità e modalità di collaborazione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108 Vision — Costruiamo la direzione, non solo il codice.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1868</Words>
  <Application>Microsoft Office PowerPoint</Application>
  <PresentationFormat>Widescreen</PresentationFormat>
  <Paragraphs>348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Arial</vt:lpstr>
      <vt:lpstr>Calibri</vt:lpstr>
      <vt:lpstr>Inter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Scoglio, Elios</cp:lastModifiedBy>
  <cp:revision>2</cp:revision>
  <dcterms:created xsi:type="dcterms:W3CDTF">2013-01-27T09:14:16Z</dcterms:created>
  <dcterms:modified xsi:type="dcterms:W3CDTF">2026-07-29T13:55:08Z</dcterms:modified>
  <cp:category/>
</cp:coreProperties>
</file>