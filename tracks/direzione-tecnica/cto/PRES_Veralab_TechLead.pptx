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0" r:id="rId4"/>
    <p:sldId id="271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280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 i="0">
                <a:solidFill>
                  <a:srgbClr val="FFFFFF"/>
                </a:solidFill>
                <a:latin typeface="Inter"/>
              </a:defRPr>
            </a:pPr>
            <a:r>
              <a:t>ELIOS SCOGLIO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A78BFA"/>
                </a:solidFill>
                <a:latin typeface="Inter"/>
              </a:defRPr>
            </a:pPr>
            <a:r>
              <a:t>Software &amp; Architecture Manager  |  Fractional 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63240"/>
            <a:ext cx="292608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2E8F0"/>
                </a:solidFill>
                <a:latin typeface="Inter"/>
              </a:defRPr>
            </a:pPr>
            <a:r>
              <a:t>Proposta Fractional CTO — Veralab / Re-Forme SRL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E2E8F0"/>
                </a:solidFill>
                <a:latin typeface="Inter"/>
              </a:defRPr>
            </a:pPr>
            <a:r>
              <a:t>Ho analizzato il vostro stack prima di scrivervi. Non sono un candidato.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108 Vision — Costruiamo la direzione, non solo il codice.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6CE1C-C3C2-D8B9-3583-4EE04D604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1">
            <a:extLst>
              <a:ext uri="{FF2B5EF4-FFF2-40B4-BE49-F238E27FC236}">
                <a16:creationId xmlns:a16="http://schemas.microsoft.com/office/drawing/2014/main" id="{24F1514A-715D-EE6A-367B-33465D2EDE58}"/>
              </a:ext>
            </a:extLst>
          </p:cNvPr>
          <p:cNvSpPr txBox="1"/>
          <p:nvPr/>
        </p:nvSpPr>
        <p:spPr>
          <a:xfrm>
            <a:off x="914400" y="54864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rPr dirty="0"/>
              <a:t>108 Vision</a:t>
            </a:r>
          </a:p>
        </p:txBody>
      </p:sp>
      <p:sp>
        <p:nvSpPr>
          <p:cNvPr id="50" name="Rectangle 2">
            <a:extLst>
              <a:ext uri="{FF2B5EF4-FFF2-40B4-BE49-F238E27FC236}">
                <a16:creationId xmlns:a16="http://schemas.microsoft.com/office/drawing/2014/main" id="{8FB43210-29D7-8DAC-C7CD-C78F7DFEE209}"/>
              </a:ext>
            </a:extLst>
          </p:cNvPr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3">
            <a:extLst>
              <a:ext uri="{FF2B5EF4-FFF2-40B4-BE49-F238E27FC236}">
                <a16:creationId xmlns:a16="http://schemas.microsoft.com/office/drawing/2014/main" id="{7C35BA7E-296F-2AB9-B049-EED089153121}"/>
              </a:ext>
            </a:extLst>
          </p:cNvPr>
          <p:cNvSpPr txBox="1"/>
          <p:nvPr/>
        </p:nvSpPr>
        <p:spPr>
          <a:xfrm>
            <a:off x="109728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25 anni di esperienza su sistemi in produzione. Risultati misurati, non promessi.</a:t>
            </a:r>
          </a:p>
        </p:txBody>
      </p:sp>
      <p:sp>
        <p:nvSpPr>
          <p:cNvPr id="54" name="TextBox 4">
            <a:extLst>
              <a:ext uri="{FF2B5EF4-FFF2-40B4-BE49-F238E27FC236}">
                <a16:creationId xmlns:a16="http://schemas.microsoft.com/office/drawing/2014/main" id="{4790B8F0-FA29-EFAF-606E-A88CFF023CDA}"/>
              </a:ext>
            </a:extLst>
          </p:cNvPr>
          <p:cNvSpPr txBox="1"/>
          <p:nvPr/>
        </p:nvSpPr>
        <p:spPr>
          <a:xfrm>
            <a:off x="109728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Inter"/>
              </a:defRPr>
            </a:pPr>
            <a:r>
              <a:t>COSA ABBIAMO FATTO</a:t>
            </a:r>
          </a:p>
        </p:txBody>
      </p:sp>
      <p:sp>
        <p:nvSpPr>
          <p:cNvPr id="56" name="TextBox 5">
            <a:extLst>
              <a:ext uri="{FF2B5EF4-FFF2-40B4-BE49-F238E27FC236}">
                <a16:creationId xmlns:a16="http://schemas.microsoft.com/office/drawing/2014/main" id="{3F3667DA-AF05-3861-234B-3E566C590A1C}"/>
              </a:ext>
            </a:extLst>
          </p:cNvPr>
          <p:cNvSpPr txBox="1"/>
          <p:nvPr/>
        </p:nvSpPr>
        <p:spPr>
          <a:xfrm>
            <a:off x="1097280" y="2743200"/>
            <a:ext cx="5303520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endParaRPr dirty="0"/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</a:t>
            </a:r>
            <a:r>
              <a:rPr dirty="0" err="1"/>
              <a:t>Piattaforma</a:t>
            </a:r>
            <a:r>
              <a:rPr dirty="0"/>
              <a:t> </a:t>
            </a:r>
            <a:r>
              <a:rPr dirty="0" err="1"/>
              <a:t>immobiliare</a:t>
            </a:r>
            <a:r>
              <a:rPr dirty="0"/>
              <a:t> </a:t>
            </a:r>
            <a:r>
              <a:rPr dirty="0" err="1"/>
              <a:t>nazionale</a:t>
            </a:r>
            <a:r>
              <a:rPr dirty="0"/>
              <a:t> — refactoring </a:t>
            </a:r>
            <a:r>
              <a:rPr dirty="0" err="1"/>
              <a:t>completo</a:t>
            </a:r>
            <a:r>
              <a:rPr dirty="0"/>
              <a:t> 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Cloud provider enterprise — </a:t>
            </a:r>
            <a:r>
              <a:rPr dirty="0" err="1"/>
              <a:t>trasformazione</a:t>
            </a:r>
            <a:r>
              <a:rPr dirty="0"/>
              <a:t> </a:t>
            </a:r>
            <a:r>
              <a:rPr dirty="0" err="1"/>
              <a:t>qualita</a:t>
            </a:r>
            <a:r>
              <a:rPr dirty="0"/>
              <a:t> e </a:t>
            </a:r>
            <a:r>
              <a:rPr dirty="0" err="1"/>
              <a:t>rilascio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larga</a:t>
            </a:r>
            <a:r>
              <a:rPr dirty="0"/>
              <a:t> scala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</a:t>
            </a:r>
            <a:r>
              <a:rPr dirty="0" err="1"/>
              <a:t>Piattaforma</a:t>
            </a:r>
            <a:r>
              <a:rPr dirty="0"/>
              <a:t> ticketing 30M </a:t>
            </a:r>
            <a:r>
              <a:rPr dirty="0" err="1"/>
              <a:t>transazioni</a:t>
            </a:r>
            <a:r>
              <a:rPr dirty="0"/>
              <a:t>/anno — governance </a:t>
            </a:r>
            <a:r>
              <a:rPr dirty="0" err="1"/>
              <a:t>architetturale</a:t>
            </a:r>
            <a:r>
              <a:rPr dirty="0"/>
              <a:t>, 93 </a:t>
            </a:r>
            <a:r>
              <a:rPr dirty="0" err="1"/>
              <a:t>componenti</a:t>
            </a:r>
            <a:r>
              <a:rPr dirty="0"/>
              <a:t>, 3 team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Compliance mission-critical — </a:t>
            </a:r>
            <a:r>
              <a:rPr dirty="0" err="1"/>
              <a:t>fiscale</a:t>
            </a:r>
            <a:r>
              <a:rPr dirty="0"/>
              <a:t>, </a:t>
            </a:r>
            <a:r>
              <a:rPr dirty="0" err="1"/>
              <a:t>Polizia</a:t>
            </a:r>
            <a:r>
              <a:rPr dirty="0"/>
              <a:t> di Stato, GDPR, PCI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Legacy modernization — </a:t>
            </a:r>
            <a:r>
              <a:rPr dirty="0" err="1"/>
              <a:t>sistema</a:t>
            </a:r>
            <a:r>
              <a:rPr dirty="0"/>
              <a:t> 23 anni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AI adoption </a:t>
            </a:r>
            <a:r>
              <a:rPr dirty="0" err="1"/>
              <a:t>pragmatica</a:t>
            </a:r>
            <a:r>
              <a:rPr dirty="0"/>
              <a:t> — </a:t>
            </a:r>
            <a:r>
              <a:rPr dirty="0" err="1"/>
              <a:t>integrata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ciclo</a:t>
            </a:r>
            <a:r>
              <a:rPr dirty="0"/>
              <a:t> di </a:t>
            </a:r>
            <a:r>
              <a:rPr dirty="0" err="1"/>
              <a:t>sviluppo</a:t>
            </a:r>
            <a:r>
              <a:rPr dirty="0"/>
              <a:t> con ROI </a:t>
            </a:r>
            <a:r>
              <a:rPr dirty="0" err="1"/>
              <a:t>dimostrato</a:t>
            </a:r>
            <a:endParaRPr lang="it-IT" dirty="0"/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lang="it-IT" dirty="0"/>
              <a:t>→ Mobile</a:t>
            </a:r>
            <a:endParaRPr dirty="0"/>
          </a:p>
        </p:txBody>
      </p:sp>
      <p:sp>
        <p:nvSpPr>
          <p:cNvPr id="58" name="TextBox 6">
            <a:extLst>
              <a:ext uri="{FF2B5EF4-FFF2-40B4-BE49-F238E27FC236}">
                <a16:creationId xmlns:a16="http://schemas.microsoft.com/office/drawing/2014/main" id="{5D845291-B04D-D3B0-ECE8-6FF13F14011E}"/>
              </a:ext>
            </a:extLst>
          </p:cNvPr>
          <p:cNvSpPr txBox="1"/>
          <p:nvPr/>
        </p:nvSpPr>
        <p:spPr>
          <a:xfrm>
            <a:off x="68580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Inter"/>
              </a:defRPr>
            </a:pPr>
            <a:r>
              <a:t>RISULTATI MISURATI</a:t>
            </a:r>
          </a:p>
        </p:txBody>
      </p:sp>
      <p:sp>
        <p:nvSpPr>
          <p:cNvPr id="60" name="TextBox 7">
            <a:extLst>
              <a:ext uri="{FF2B5EF4-FFF2-40B4-BE49-F238E27FC236}">
                <a16:creationId xmlns:a16="http://schemas.microsoft.com/office/drawing/2014/main" id="{AA2B01BB-54BB-6827-21E1-5E2358CB8731}"/>
              </a:ext>
            </a:extLst>
          </p:cNvPr>
          <p:cNvSpPr txBox="1"/>
          <p:nvPr/>
        </p:nvSpPr>
        <p:spPr>
          <a:xfrm>
            <a:off x="68580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Lead time</a:t>
            </a:r>
          </a:p>
        </p:txBody>
      </p:sp>
      <p:sp>
        <p:nvSpPr>
          <p:cNvPr id="62" name="TextBox 8">
            <a:extLst>
              <a:ext uri="{FF2B5EF4-FFF2-40B4-BE49-F238E27FC236}">
                <a16:creationId xmlns:a16="http://schemas.microsoft.com/office/drawing/2014/main" id="{D2850428-6A56-328C-EB6D-B53AB036D8CC}"/>
              </a:ext>
            </a:extLst>
          </p:cNvPr>
          <p:cNvSpPr txBox="1"/>
          <p:nvPr/>
        </p:nvSpPr>
        <p:spPr>
          <a:xfrm>
            <a:off x="96012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-60%</a:t>
            </a:r>
          </a:p>
        </p:txBody>
      </p:sp>
      <p:sp>
        <p:nvSpPr>
          <p:cNvPr id="64" name="TextBox 9">
            <a:extLst>
              <a:ext uri="{FF2B5EF4-FFF2-40B4-BE49-F238E27FC236}">
                <a16:creationId xmlns:a16="http://schemas.microsoft.com/office/drawing/2014/main" id="{DB162C95-E8D8-E0DA-6CC9-1E929BF0AE31}"/>
              </a:ext>
            </a:extLst>
          </p:cNvPr>
          <p:cNvSpPr txBox="1"/>
          <p:nvPr/>
        </p:nvSpPr>
        <p:spPr>
          <a:xfrm>
            <a:off x="68580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Bug rate</a:t>
            </a:r>
          </a:p>
        </p:txBody>
      </p:sp>
      <p:sp>
        <p:nvSpPr>
          <p:cNvPr id="66" name="TextBox 10">
            <a:extLst>
              <a:ext uri="{FF2B5EF4-FFF2-40B4-BE49-F238E27FC236}">
                <a16:creationId xmlns:a16="http://schemas.microsoft.com/office/drawing/2014/main" id="{0F4960B8-1F09-26DC-B0C6-3C945B8B749D}"/>
              </a:ext>
            </a:extLst>
          </p:cNvPr>
          <p:cNvSpPr txBox="1"/>
          <p:nvPr/>
        </p:nvSpPr>
        <p:spPr>
          <a:xfrm>
            <a:off x="9601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-98%</a:t>
            </a:r>
          </a:p>
        </p:txBody>
      </p:sp>
      <p:sp>
        <p:nvSpPr>
          <p:cNvPr id="68" name="TextBox 11">
            <a:extLst>
              <a:ext uri="{FF2B5EF4-FFF2-40B4-BE49-F238E27FC236}">
                <a16:creationId xmlns:a16="http://schemas.microsoft.com/office/drawing/2014/main" id="{2B2AF30C-FEA6-C9DD-BA09-659FC62907BD}"/>
              </a:ext>
            </a:extLst>
          </p:cNvPr>
          <p:cNvSpPr txBox="1"/>
          <p:nvPr/>
        </p:nvSpPr>
        <p:spPr>
          <a:xfrm>
            <a:off x="68580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Deploy frequency</a:t>
            </a:r>
          </a:p>
        </p:txBody>
      </p:sp>
      <p:sp>
        <p:nvSpPr>
          <p:cNvPr id="70" name="TextBox 12">
            <a:extLst>
              <a:ext uri="{FF2B5EF4-FFF2-40B4-BE49-F238E27FC236}">
                <a16:creationId xmlns:a16="http://schemas.microsoft.com/office/drawing/2014/main" id="{FD9968A1-76E3-0F49-BB9D-7197B132FFD6}"/>
              </a:ext>
            </a:extLst>
          </p:cNvPr>
          <p:cNvSpPr txBox="1"/>
          <p:nvPr/>
        </p:nvSpPr>
        <p:spPr>
          <a:xfrm>
            <a:off x="960120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+400%</a:t>
            </a:r>
          </a:p>
        </p:txBody>
      </p:sp>
      <p:sp>
        <p:nvSpPr>
          <p:cNvPr id="72" name="TextBox 13">
            <a:extLst>
              <a:ext uri="{FF2B5EF4-FFF2-40B4-BE49-F238E27FC236}">
                <a16:creationId xmlns:a16="http://schemas.microsoft.com/office/drawing/2014/main" id="{B219F27A-6E8C-496A-E0BB-372DF58C3D0F}"/>
              </a:ext>
            </a:extLst>
          </p:cNvPr>
          <p:cNvSpPr txBox="1"/>
          <p:nvPr/>
        </p:nvSpPr>
        <p:spPr>
          <a:xfrm>
            <a:off x="68580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Tempo deploy</a:t>
            </a:r>
          </a:p>
        </p:txBody>
      </p:sp>
      <p:sp>
        <p:nvSpPr>
          <p:cNvPr id="74" name="TextBox 14">
            <a:extLst>
              <a:ext uri="{FF2B5EF4-FFF2-40B4-BE49-F238E27FC236}">
                <a16:creationId xmlns:a16="http://schemas.microsoft.com/office/drawing/2014/main" id="{B731C9F9-7173-100A-477A-22EC65D62FD2}"/>
              </a:ext>
            </a:extLst>
          </p:cNvPr>
          <p:cNvSpPr txBox="1"/>
          <p:nvPr/>
        </p:nvSpPr>
        <p:spPr>
          <a:xfrm>
            <a:off x="96012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-91%</a:t>
            </a:r>
          </a:p>
        </p:txBody>
      </p:sp>
      <p:sp>
        <p:nvSpPr>
          <p:cNvPr id="76" name="TextBox 15">
            <a:extLst>
              <a:ext uri="{FF2B5EF4-FFF2-40B4-BE49-F238E27FC236}">
                <a16:creationId xmlns:a16="http://schemas.microsoft.com/office/drawing/2014/main" id="{0259B273-2B1C-C83F-1BB2-2EC3E99A863C}"/>
              </a:ext>
            </a:extLst>
          </p:cNvPr>
          <p:cNvSpPr txBox="1"/>
          <p:nvPr/>
        </p:nvSpPr>
        <p:spPr>
          <a:xfrm>
            <a:off x="685800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Costo sviluppo (AI)</a:t>
            </a:r>
          </a:p>
        </p:txBody>
      </p:sp>
      <p:sp>
        <p:nvSpPr>
          <p:cNvPr id="78" name="TextBox 16">
            <a:extLst>
              <a:ext uri="{FF2B5EF4-FFF2-40B4-BE49-F238E27FC236}">
                <a16:creationId xmlns:a16="http://schemas.microsoft.com/office/drawing/2014/main" id="{6D536CE4-FD5B-E1FA-4801-143007E37294}"/>
              </a:ext>
            </a:extLst>
          </p:cNvPr>
          <p:cNvSpPr txBox="1"/>
          <p:nvPr/>
        </p:nvSpPr>
        <p:spPr>
          <a:xfrm>
            <a:off x="960120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-77%</a:t>
            </a:r>
          </a:p>
        </p:txBody>
      </p:sp>
      <p:sp>
        <p:nvSpPr>
          <p:cNvPr id="80" name="TextBox 17">
            <a:extLst>
              <a:ext uri="{FF2B5EF4-FFF2-40B4-BE49-F238E27FC236}">
                <a16:creationId xmlns:a16="http://schemas.microsoft.com/office/drawing/2014/main" id="{A01E2357-B861-04B8-0223-0F6F7A4907A3}"/>
              </a:ext>
            </a:extLst>
          </p:cNvPr>
          <p:cNvSpPr txBox="1"/>
          <p:nvPr/>
        </p:nvSpPr>
        <p:spPr>
          <a:xfrm>
            <a:off x="68580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Team satisfaction</a:t>
            </a:r>
          </a:p>
        </p:txBody>
      </p:sp>
      <p:sp>
        <p:nvSpPr>
          <p:cNvPr id="82" name="TextBox 18">
            <a:extLst>
              <a:ext uri="{FF2B5EF4-FFF2-40B4-BE49-F238E27FC236}">
                <a16:creationId xmlns:a16="http://schemas.microsoft.com/office/drawing/2014/main" id="{9E69218E-A101-81E5-E02F-3C34DAC4F5E5}"/>
              </a:ext>
            </a:extLst>
          </p:cNvPr>
          <p:cNvSpPr txBox="1"/>
          <p:nvPr/>
        </p:nvSpPr>
        <p:spPr>
          <a:xfrm>
            <a:off x="960120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+50%</a:t>
            </a:r>
          </a:p>
        </p:txBody>
      </p:sp>
      <p:sp>
        <p:nvSpPr>
          <p:cNvPr id="84" name="TextBox 19">
            <a:extLst>
              <a:ext uri="{FF2B5EF4-FFF2-40B4-BE49-F238E27FC236}">
                <a16:creationId xmlns:a16="http://schemas.microsoft.com/office/drawing/2014/main" id="{7D112731-7E4A-FBCD-5F77-F4A08E0F129D}"/>
              </a:ext>
            </a:extLst>
          </p:cNvPr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Costruiamo la direzione, non solo il codice. Il valore e nelle decisioni giuste, non nelle righe scritte.</a:t>
            </a:r>
          </a:p>
        </p:txBody>
      </p:sp>
    </p:spTree>
    <p:extLst>
      <p:ext uri="{BB962C8B-B14F-4D97-AF65-F5344CB8AC3E}">
        <p14:creationId xmlns:p14="http://schemas.microsoft.com/office/powerpoint/2010/main" val="4083085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002FE-4E74-A84B-3FCB-407D246B4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0D0D40C3-11FA-F2CE-F62D-EAAA997DB509}"/>
              </a:ext>
            </a:extLst>
          </p:cNvPr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Cosa faccio concretamente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4FBC1B-AD99-3916-FE92-1DD2310C81C1}"/>
              </a:ext>
            </a:extLst>
          </p:cNvPr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8CAF988D-F9F3-D1AF-F9E4-6393AFF2DF50}"/>
              </a:ext>
            </a:extLst>
          </p:cNvPr>
          <p:cNvSpPr txBox="1"/>
          <p:nvPr/>
        </p:nvSpPr>
        <p:spPr>
          <a:xfrm>
            <a:off x="13716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Strategia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AD376A04-A8EE-CD46-C5FF-2B3B0D8562D6}"/>
              </a:ext>
            </a:extLst>
          </p:cNvPr>
          <p:cNvSpPr txBox="1"/>
          <p:nvPr/>
        </p:nvSpPr>
        <p:spPr>
          <a:xfrm>
            <a:off x="4572000" y="1828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Roadmap tecnica, decisioni architetturali, allineamento business-tech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68451BDA-E3E6-ACFD-8A27-32EE7832895B}"/>
              </a:ext>
            </a:extLst>
          </p:cNvPr>
          <p:cNvSpPr txBox="1"/>
          <p:nvPr/>
        </p:nvSpPr>
        <p:spPr>
          <a:xfrm>
            <a:off x="1371600" y="2697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Architettura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30E92E02-4BBC-22F7-9881-774E61D1B7BD}"/>
              </a:ext>
            </a:extLst>
          </p:cNvPr>
          <p:cNvSpPr txBox="1"/>
          <p:nvPr/>
        </p:nvSpPr>
        <p:spPr>
          <a:xfrm>
            <a:off x="4572000" y="2697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Review design, standard, debito tecnico, scelte build/buy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111B6CF9-3864-595A-4082-BEFEF62F9852}"/>
              </a:ext>
            </a:extLst>
          </p:cNvPr>
          <p:cNvSpPr txBox="1"/>
          <p:nvPr/>
        </p:nvSpPr>
        <p:spPr>
          <a:xfrm>
            <a:off x="137160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Team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837BF70D-3CE4-265B-C8D5-03E3643E8D35}"/>
              </a:ext>
            </a:extLst>
          </p:cNvPr>
          <p:cNvSpPr txBox="1"/>
          <p:nvPr/>
        </p:nvSpPr>
        <p:spPr>
          <a:xfrm>
            <a:off x="4572000" y="3566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Hiring, 1:1, mentoring, cultura ingegneristica, crescita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48C8670D-42B8-4D07-4960-87487A95253E}"/>
              </a:ext>
            </a:extLst>
          </p:cNvPr>
          <p:cNvSpPr txBox="1"/>
          <p:nvPr/>
        </p:nvSpPr>
        <p:spPr>
          <a:xfrm>
            <a:off x="137160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Governance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17AC9D48-CC44-98D4-D8A3-49C8372EAADA}"/>
              </a:ext>
            </a:extLst>
          </p:cNvPr>
          <p:cNvSpPr txBox="1"/>
          <p:nvPr/>
        </p:nvSpPr>
        <p:spPr>
          <a:xfrm>
            <a:off x="4572000" y="44348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ADR tracciabili, metriche DORA, report mensile, CEO sync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9B23AFEC-1513-7658-1AFA-DDF3C8FE6654}"/>
              </a:ext>
            </a:extLst>
          </p:cNvPr>
          <p:cNvSpPr txBox="1"/>
          <p:nvPr/>
        </p:nvSpPr>
        <p:spPr>
          <a:xfrm>
            <a:off x="137160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AI &amp; Innovazione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1D168E83-C95F-14CA-116A-4ECB0180054F}"/>
              </a:ext>
            </a:extLst>
          </p:cNvPr>
          <p:cNvSpPr txBox="1"/>
          <p:nvPr/>
        </p:nvSpPr>
        <p:spPr>
          <a:xfrm>
            <a:off x="4572000" y="53035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Adoption pragmatica — ROI dimostrabile, non hype</a:t>
            </a:r>
          </a:p>
        </p:txBody>
      </p:sp>
    </p:spTree>
    <p:extLst>
      <p:ext uri="{BB962C8B-B14F-4D97-AF65-F5344CB8AC3E}">
        <p14:creationId xmlns:p14="http://schemas.microsoft.com/office/powerpoint/2010/main" val="406688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2D8E1E-B3BA-D662-6A7A-C0E8D0A21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1">
            <a:extLst>
              <a:ext uri="{FF2B5EF4-FFF2-40B4-BE49-F238E27FC236}">
                <a16:creationId xmlns:a16="http://schemas.microsoft.com/office/drawing/2014/main" id="{96A83EFB-963F-7B1B-CCFA-BEF74F94F8B6}"/>
              </a:ext>
            </a:extLst>
          </p:cNvPr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I principi dietro ogni decisione</a:t>
            </a:r>
          </a:p>
        </p:txBody>
      </p:sp>
      <p:sp>
        <p:nvSpPr>
          <p:cNvPr id="55" name="Rectangle 2">
            <a:extLst>
              <a:ext uri="{FF2B5EF4-FFF2-40B4-BE49-F238E27FC236}">
                <a16:creationId xmlns:a16="http://schemas.microsoft.com/office/drawing/2014/main" id="{86D01881-38F9-8756-DFA7-F750BA584D99}"/>
              </a:ext>
            </a:extLst>
          </p:cNvPr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3">
            <a:extLst>
              <a:ext uri="{FF2B5EF4-FFF2-40B4-BE49-F238E27FC236}">
                <a16:creationId xmlns:a16="http://schemas.microsoft.com/office/drawing/2014/main" id="{20740E5F-206C-5D1D-36FC-60985D8AC058}"/>
              </a:ext>
            </a:extLst>
          </p:cNvPr>
          <p:cNvSpPr txBox="1"/>
          <p:nvPr/>
        </p:nvSpPr>
        <p:spPr>
          <a:xfrm>
            <a:off x="109728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15 pilastri tecnici organizzati in 4 macro-aree:</a:t>
            </a:r>
          </a:p>
        </p:txBody>
      </p:sp>
      <p:sp>
        <p:nvSpPr>
          <p:cNvPr id="59" name="Rounded Rectangle 4">
            <a:extLst>
              <a:ext uri="{FF2B5EF4-FFF2-40B4-BE49-F238E27FC236}">
                <a16:creationId xmlns:a16="http://schemas.microsoft.com/office/drawing/2014/main" id="{358FD4B0-6A81-FE02-E8C8-DB4EE4A78356}"/>
              </a:ext>
            </a:extLst>
          </p:cNvPr>
          <p:cNvSpPr/>
          <p:nvPr/>
        </p:nvSpPr>
        <p:spPr>
          <a:xfrm>
            <a:off x="1097280" y="2286000"/>
            <a:ext cx="9875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5">
            <a:extLst>
              <a:ext uri="{FF2B5EF4-FFF2-40B4-BE49-F238E27FC236}">
                <a16:creationId xmlns:a16="http://schemas.microsoft.com/office/drawing/2014/main" id="{B1E7167E-FB93-556A-ACE3-F887B4AFA21A}"/>
              </a:ext>
            </a:extLst>
          </p:cNvPr>
          <p:cNvSpPr txBox="1"/>
          <p:nvPr/>
        </p:nvSpPr>
        <p:spPr>
          <a:xfrm>
            <a:off x="1371600" y="23591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COSTRUIRE</a:t>
            </a:r>
          </a:p>
        </p:txBody>
      </p:sp>
      <p:sp>
        <p:nvSpPr>
          <p:cNvPr id="63" name="TextBox 6">
            <a:extLst>
              <a:ext uri="{FF2B5EF4-FFF2-40B4-BE49-F238E27FC236}">
                <a16:creationId xmlns:a16="http://schemas.microsoft.com/office/drawing/2014/main" id="{5A9CB0C7-A572-7147-6BDC-50040CC39DE5}"/>
              </a:ext>
            </a:extLst>
          </p:cNvPr>
          <p:cNvSpPr txBox="1"/>
          <p:nvPr/>
        </p:nvSpPr>
        <p:spPr>
          <a:xfrm>
            <a:off x="4114800" y="23591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Architettura, Design, Qualita</a:t>
            </a:r>
          </a:p>
        </p:txBody>
      </p:sp>
      <p:sp>
        <p:nvSpPr>
          <p:cNvPr id="65" name="TextBox 7">
            <a:extLst>
              <a:ext uri="{FF2B5EF4-FFF2-40B4-BE49-F238E27FC236}">
                <a16:creationId xmlns:a16="http://schemas.microsoft.com/office/drawing/2014/main" id="{FD4EF9EA-8B42-1AEB-751A-894C1DF540D7}"/>
              </a:ext>
            </a:extLst>
          </p:cNvPr>
          <p:cNvSpPr txBox="1"/>
          <p:nvPr/>
        </p:nvSpPr>
        <p:spPr>
          <a:xfrm>
            <a:off x="8412480" y="23591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Cosa stiamo costruendo e come?</a:t>
            </a:r>
          </a:p>
        </p:txBody>
      </p:sp>
      <p:sp>
        <p:nvSpPr>
          <p:cNvPr id="67" name="Rounded Rectangle 8">
            <a:extLst>
              <a:ext uri="{FF2B5EF4-FFF2-40B4-BE49-F238E27FC236}">
                <a16:creationId xmlns:a16="http://schemas.microsoft.com/office/drawing/2014/main" id="{8DD017FE-87F4-2081-B269-6A8F7063B072}"/>
              </a:ext>
            </a:extLst>
          </p:cNvPr>
          <p:cNvSpPr/>
          <p:nvPr/>
        </p:nvSpPr>
        <p:spPr>
          <a:xfrm>
            <a:off x="1097280" y="3246119"/>
            <a:ext cx="9875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9">
            <a:extLst>
              <a:ext uri="{FF2B5EF4-FFF2-40B4-BE49-F238E27FC236}">
                <a16:creationId xmlns:a16="http://schemas.microsoft.com/office/drawing/2014/main" id="{7EB35B31-0CB2-1ED9-E346-508C67EFE44C}"/>
              </a:ext>
            </a:extLst>
          </p:cNvPr>
          <p:cNvSpPr txBox="1"/>
          <p:nvPr/>
        </p:nvSpPr>
        <p:spPr>
          <a:xfrm>
            <a:off x="1371600" y="331927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VERIFICARE</a:t>
            </a:r>
          </a:p>
        </p:txBody>
      </p:sp>
      <p:sp>
        <p:nvSpPr>
          <p:cNvPr id="71" name="TextBox 10">
            <a:extLst>
              <a:ext uri="{FF2B5EF4-FFF2-40B4-BE49-F238E27FC236}">
                <a16:creationId xmlns:a16="http://schemas.microsoft.com/office/drawing/2014/main" id="{650DFBF1-D546-E4AF-F8A6-C845B09796FC}"/>
              </a:ext>
            </a:extLst>
          </p:cNvPr>
          <p:cNvSpPr txBox="1"/>
          <p:nvPr/>
        </p:nvSpPr>
        <p:spPr>
          <a:xfrm>
            <a:off x="4114800" y="3319271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Testing, Delivery, Osservabilita</a:t>
            </a:r>
          </a:p>
        </p:txBody>
      </p:sp>
      <p:sp>
        <p:nvSpPr>
          <p:cNvPr id="73" name="TextBox 11">
            <a:extLst>
              <a:ext uri="{FF2B5EF4-FFF2-40B4-BE49-F238E27FC236}">
                <a16:creationId xmlns:a16="http://schemas.microsoft.com/office/drawing/2014/main" id="{A4878E08-D469-77AC-FB90-A4D448E94431}"/>
              </a:ext>
            </a:extLst>
          </p:cNvPr>
          <p:cNvSpPr txBox="1"/>
          <p:nvPr/>
        </p:nvSpPr>
        <p:spPr>
          <a:xfrm>
            <a:off x="8412480" y="331927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Come sappiamo che funziona?</a:t>
            </a:r>
          </a:p>
        </p:txBody>
      </p:sp>
      <p:sp>
        <p:nvSpPr>
          <p:cNvPr id="75" name="Rounded Rectangle 12">
            <a:extLst>
              <a:ext uri="{FF2B5EF4-FFF2-40B4-BE49-F238E27FC236}">
                <a16:creationId xmlns:a16="http://schemas.microsoft.com/office/drawing/2014/main" id="{CC980BD3-C8B6-ACAD-63E7-A7653F10CA5C}"/>
              </a:ext>
            </a:extLst>
          </p:cNvPr>
          <p:cNvSpPr/>
          <p:nvPr/>
        </p:nvSpPr>
        <p:spPr>
          <a:xfrm>
            <a:off x="1097280" y="4206240"/>
            <a:ext cx="9875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13">
            <a:extLst>
              <a:ext uri="{FF2B5EF4-FFF2-40B4-BE49-F238E27FC236}">
                <a16:creationId xmlns:a16="http://schemas.microsoft.com/office/drawing/2014/main" id="{A7AA0BA1-7C52-F92D-1727-B09D9AC0E080}"/>
              </a:ext>
            </a:extLst>
          </p:cNvPr>
          <p:cNvSpPr txBox="1"/>
          <p:nvPr/>
        </p:nvSpPr>
        <p:spPr>
          <a:xfrm>
            <a:off x="1371600" y="4279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PROTEGGERE</a:t>
            </a:r>
          </a:p>
        </p:txBody>
      </p:sp>
      <p:sp>
        <p:nvSpPr>
          <p:cNvPr id="79" name="TextBox 14">
            <a:extLst>
              <a:ext uri="{FF2B5EF4-FFF2-40B4-BE49-F238E27FC236}">
                <a16:creationId xmlns:a16="http://schemas.microsoft.com/office/drawing/2014/main" id="{23928D78-9062-7730-14B5-D3992B1CF319}"/>
              </a:ext>
            </a:extLst>
          </p:cNvPr>
          <p:cNvSpPr txBox="1"/>
          <p:nvPr/>
        </p:nvSpPr>
        <p:spPr>
          <a:xfrm>
            <a:off x="4114800" y="42793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Sicurezza, Dati, Scalabilita</a:t>
            </a:r>
          </a:p>
        </p:txBody>
      </p:sp>
      <p:sp>
        <p:nvSpPr>
          <p:cNvPr id="81" name="TextBox 15">
            <a:extLst>
              <a:ext uri="{FF2B5EF4-FFF2-40B4-BE49-F238E27FC236}">
                <a16:creationId xmlns:a16="http://schemas.microsoft.com/office/drawing/2014/main" id="{42D2ECA4-BC6C-D69D-BDFB-2062115FC2F7}"/>
              </a:ext>
            </a:extLst>
          </p:cNvPr>
          <p:cNvSpPr txBox="1"/>
          <p:nvPr/>
        </p:nvSpPr>
        <p:spPr>
          <a:xfrm>
            <a:off x="8412480" y="4279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Come lo difendiamo?</a:t>
            </a:r>
          </a:p>
        </p:txBody>
      </p:sp>
      <p:sp>
        <p:nvSpPr>
          <p:cNvPr id="83" name="Rounded Rectangle 16">
            <a:extLst>
              <a:ext uri="{FF2B5EF4-FFF2-40B4-BE49-F238E27FC236}">
                <a16:creationId xmlns:a16="http://schemas.microsoft.com/office/drawing/2014/main" id="{F3D56968-0021-CFDB-D67B-CBF9C5C29119}"/>
              </a:ext>
            </a:extLst>
          </p:cNvPr>
          <p:cNvSpPr/>
          <p:nvPr/>
        </p:nvSpPr>
        <p:spPr>
          <a:xfrm>
            <a:off x="1097280" y="5166360"/>
            <a:ext cx="9875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17">
            <a:extLst>
              <a:ext uri="{FF2B5EF4-FFF2-40B4-BE49-F238E27FC236}">
                <a16:creationId xmlns:a16="http://schemas.microsoft.com/office/drawing/2014/main" id="{ED60CA7F-1A97-7FB4-5A44-C57DB9E83E11}"/>
              </a:ext>
            </a:extLst>
          </p:cNvPr>
          <p:cNvSpPr txBox="1"/>
          <p:nvPr/>
        </p:nvSpPr>
        <p:spPr>
          <a:xfrm>
            <a:off x="1371600" y="5239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GUIDARE</a:t>
            </a:r>
          </a:p>
        </p:txBody>
      </p:sp>
      <p:sp>
        <p:nvSpPr>
          <p:cNvPr id="87" name="TextBox 18">
            <a:extLst>
              <a:ext uri="{FF2B5EF4-FFF2-40B4-BE49-F238E27FC236}">
                <a16:creationId xmlns:a16="http://schemas.microsoft.com/office/drawing/2014/main" id="{EC5AE375-1B6D-B104-CDD9-1AF3BC5035E3}"/>
              </a:ext>
            </a:extLst>
          </p:cNvPr>
          <p:cNvSpPr txBox="1"/>
          <p:nvPr/>
        </p:nvSpPr>
        <p:spPr>
          <a:xfrm>
            <a:off x="4114800" y="52395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Team, Debito, AI, Decisioni, Costi, Comunicazione</a:t>
            </a:r>
          </a:p>
        </p:txBody>
      </p:sp>
      <p:sp>
        <p:nvSpPr>
          <p:cNvPr id="89" name="TextBox 19">
            <a:extLst>
              <a:ext uri="{FF2B5EF4-FFF2-40B4-BE49-F238E27FC236}">
                <a16:creationId xmlns:a16="http://schemas.microsoft.com/office/drawing/2014/main" id="{76C5BC4C-D041-B833-503A-65A2AFEDD8EA}"/>
              </a:ext>
            </a:extLst>
          </p:cNvPr>
          <p:cNvSpPr txBox="1"/>
          <p:nvPr/>
        </p:nvSpPr>
        <p:spPr>
          <a:xfrm>
            <a:off x="8412480" y="5239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Come funzionano le persone?</a:t>
            </a:r>
          </a:p>
        </p:txBody>
      </p:sp>
    </p:spTree>
    <p:extLst>
      <p:ext uri="{BB962C8B-B14F-4D97-AF65-F5344CB8AC3E}">
        <p14:creationId xmlns:p14="http://schemas.microsoft.com/office/powerpoint/2010/main" val="109487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rPr dirty="0"/>
              <a:t>Cosa ho trovato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4D399"/>
                </a:solidFill>
                <a:latin typeface="Inter"/>
              </a:defRPr>
            </a:pPr>
            <a:r>
              <a:t>GIA PRESENTE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700"/>
              </a:spcBef>
              <a:defRPr sz="1400" b="0">
                <a:solidFill>
                  <a:srgbClr val="34D399"/>
                </a:solidFill>
                <a:latin typeface="Inter"/>
              </a:defRPr>
            </a:pPr>
            <a:r>
              <a:t>✓  Shopify — piattaforma solida e scalabile</a:t>
            </a:r>
          </a:p>
          <a:p>
            <a:pPr>
              <a:spcBef>
                <a:spcPts val="700"/>
              </a:spcBef>
              <a:defRPr sz="1400" b="0">
                <a:solidFill>
                  <a:srgbClr val="34D399"/>
                </a:solidFill>
                <a:latin typeface="Inter"/>
              </a:defRPr>
            </a:pPr>
            <a:r>
              <a:t>✓  Jebbit skin diagnostic — personalizzazione CX</a:t>
            </a:r>
          </a:p>
          <a:p>
            <a:pPr>
              <a:spcBef>
                <a:spcPts val="700"/>
              </a:spcBef>
              <a:defRPr sz="1400" b="0">
                <a:solidFill>
                  <a:srgbClr val="34D399"/>
                </a:solidFill>
                <a:latin typeface="Inter"/>
              </a:defRPr>
            </a:pPr>
            <a:r>
              <a:t>✓  Virtual try-on Overskin</a:t>
            </a:r>
          </a:p>
          <a:p>
            <a:pPr>
              <a:spcBef>
                <a:spcPts val="700"/>
              </a:spcBef>
              <a:defRPr sz="1400" b="0">
                <a:solidFill>
                  <a:srgbClr val="34D399"/>
                </a:solidFill>
                <a:latin typeface="Inter"/>
              </a:defRPr>
            </a:pPr>
            <a:r>
              <a:t>✓  VERABILIA loyalty — meccanica definita</a:t>
            </a:r>
          </a:p>
          <a:p>
            <a:pPr>
              <a:spcBef>
                <a:spcPts val="700"/>
              </a:spcBef>
              <a:defRPr sz="1400" b="0">
                <a:solidFill>
                  <a:srgbClr val="34D399"/>
                </a:solidFill>
                <a:latin typeface="Inter"/>
              </a:defRPr>
            </a:pPr>
            <a:r>
              <a:t>✓  14 store con Beauty Expert qualificati</a:t>
            </a:r>
          </a:p>
          <a:p>
            <a:pPr>
              <a:spcBef>
                <a:spcPts val="700"/>
              </a:spcBef>
              <a:defRPr sz="1400" b="0">
                <a:solidFill>
                  <a:srgbClr val="34D399"/>
                </a:solidFill>
                <a:latin typeface="Inter"/>
              </a:defRPr>
            </a:pPr>
            <a:r>
              <a:t>✓  Videoconsulenze gratuite Face + Corpo</a:t>
            </a:r>
          </a:p>
          <a:p>
            <a:pPr>
              <a:spcBef>
                <a:spcPts val="700"/>
              </a:spcBef>
              <a:defRPr sz="1400" b="0">
                <a:solidFill>
                  <a:srgbClr val="34D399"/>
                </a:solidFill>
                <a:latin typeface="Inter"/>
              </a:defRPr>
            </a:pPr>
            <a:r>
              <a:t>✓  Magazine SEO aggiornato settimanalmente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BBF24"/>
                </a:solidFill>
                <a:latin typeface="Inter"/>
              </a:defRPr>
            </a:pPr>
            <a:r>
              <a:t>DA COSTRUIRE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659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700"/>
              </a:spcBef>
              <a:defRPr sz="1400" b="0">
                <a:solidFill>
                  <a:srgbClr val="FBBF24"/>
                </a:solidFill>
                <a:latin typeface="Inter"/>
              </a:defRPr>
            </a:pPr>
            <a:r>
              <a:t>→  Click &amp; collect — non implementato</a:t>
            </a:r>
          </a:p>
          <a:p>
            <a:pPr>
              <a:spcBef>
                <a:spcPts val="700"/>
              </a:spcBef>
              <a:defRPr sz="1400" b="0">
                <a:solidFill>
                  <a:srgbClr val="FBBF24"/>
                </a:solidFill>
                <a:latin typeface="Inter"/>
              </a:defRPr>
            </a:pPr>
            <a:r>
              <a:t>→  Ship-from-store — non implementato</a:t>
            </a:r>
          </a:p>
          <a:p>
            <a:pPr>
              <a:spcBef>
                <a:spcPts val="700"/>
              </a:spcBef>
              <a:defRPr sz="1400" b="0">
                <a:solidFill>
                  <a:srgbClr val="FBBF24"/>
                </a:solidFill>
                <a:latin typeface="Inter"/>
              </a:defRPr>
            </a:pPr>
            <a:r>
              <a:t>→  Stock unificato online + 14 store</a:t>
            </a:r>
          </a:p>
          <a:p>
            <a:pPr>
              <a:spcBef>
                <a:spcPts val="700"/>
              </a:spcBef>
              <a:defRPr sz="1400" b="0">
                <a:solidFill>
                  <a:srgbClr val="FBBF24"/>
                </a:solidFill>
                <a:latin typeface="Inter"/>
              </a:defRPr>
            </a:pPr>
            <a:r>
              <a:t>→  Loyalty cross-channel (in-store)</a:t>
            </a:r>
          </a:p>
          <a:p>
            <a:pPr>
              <a:spcBef>
                <a:spcPts val="700"/>
              </a:spcBef>
              <a:defRPr sz="1400" b="0">
                <a:solidFill>
                  <a:srgbClr val="FBBF24"/>
                </a:solidFill>
                <a:latin typeface="Inter"/>
              </a:defRPr>
            </a:pPr>
            <a:r>
              <a:t>→  CDP / CRM unificato multi-touchpoint</a:t>
            </a:r>
          </a:p>
          <a:p>
            <a:pPr>
              <a:spcBef>
                <a:spcPts val="700"/>
              </a:spcBef>
              <a:defRPr sz="1400" b="0">
                <a:solidFill>
                  <a:srgbClr val="FBBF24"/>
                </a:solidFill>
                <a:latin typeface="Inter"/>
              </a:defRPr>
            </a:pPr>
            <a:r>
              <a:t>→  DevOps e CI/CD strutturati</a:t>
            </a:r>
          </a:p>
          <a:p>
            <a:pPr>
              <a:spcBef>
                <a:spcPts val="700"/>
              </a:spcBef>
              <a:defRPr sz="1400" b="0">
                <a:solidFill>
                  <a:srgbClr val="FBBF24"/>
                </a:solidFill>
                <a:latin typeface="Inter"/>
              </a:defRPr>
            </a:pPr>
            <a:r>
              <a:t>→  Monitoring &amp; alert (500 errors silenti)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87171"/>
                </a:solidFill>
                <a:latin typeface="Inter"/>
              </a:defRPr>
            </a:pPr>
            <a:r>
              <a:t>Ho trovato HTTP 500 su endpoint Shopify standard durante la preparazione. Probabilmente non avete alert su questo.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Il gap piu urgente: l'integrazione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8F0"/>
                </a:solidFill>
                <a:latin typeface="Inter"/>
              </a:defRPr>
            </a:pPr>
            <a:r>
              <a:t>La sfida non e Shopify — Shopify funziona. La sfida e che Shopify non parla con Dynamics NAV.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57400"/>
            <a:ext cx="48463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87171"/>
                </a:solidFill>
                <a:latin typeface="Inter"/>
              </a:defRPr>
            </a:pPr>
            <a:r>
              <a:t>OGGI (probabile)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Shopify  →  stock online</a:t>
            </a:r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NAV       →  stock fisico (14 store)</a:t>
            </a:r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Sync: notturno o manuale</a:t>
            </a:r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Risultato:</a:t>
            </a:r>
          </a:p>
          <a:p>
            <a:pPr>
              <a:spcBef>
                <a:spcPts val="500"/>
              </a:spcBef>
              <a:defRPr sz="1300" b="0">
                <a:solidFill>
                  <a:srgbClr val="F87171"/>
                </a:solidFill>
                <a:latin typeface="Inter"/>
              </a:defRPr>
            </a:pPr>
            <a:r>
              <a:t>  ✗  Nessuno sa dove sta lo stock real-time</a:t>
            </a:r>
          </a:p>
          <a:p>
            <a:pPr>
              <a:spcBef>
                <a:spcPts val="500"/>
              </a:spcBef>
              <a:defRPr sz="1300" b="0">
                <a:solidFill>
                  <a:srgbClr val="F87171"/>
                </a:solidFill>
                <a:latin typeface="Inter"/>
              </a:defRPr>
            </a:pPr>
            <a:r>
              <a:t>  ✗  Click &amp; collect impossibile</a:t>
            </a:r>
          </a:p>
          <a:p>
            <a:pPr>
              <a:spcBef>
                <a:spcPts val="500"/>
              </a:spcBef>
              <a:defRPr sz="1300" b="0">
                <a:solidFill>
                  <a:srgbClr val="F87171"/>
                </a:solidFill>
                <a:latin typeface="Inter"/>
              </a:defRPr>
            </a:pPr>
            <a:r>
              <a:t>  ✗  Ship-from-store impossibile</a:t>
            </a:r>
          </a:p>
          <a:p>
            <a:pPr>
              <a:spcBef>
                <a:spcPts val="500"/>
              </a:spcBef>
              <a:defRPr sz="1300" b="0">
                <a:solidFill>
                  <a:srgbClr val="F87171"/>
                </a:solidFill>
                <a:latin typeface="Inter"/>
              </a:defRPr>
            </a:pPr>
            <a:r>
              <a:t>  ✗  Loyalty cross-channel impossibile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57400"/>
            <a:ext cx="48463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4D399"/>
                </a:solidFill>
                <a:latin typeface="Inter"/>
              </a:defRPr>
            </a:pPr>
            <a: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060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Middleware Shopify ↔ NAV</a:t>
            </a:r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Inventory sync real-time</a:t>
            </a:r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Risultato:</a:t>
            </a:r>
          </a:p>
          <a:p>
            <a:pPr>
              <a:spcBef>
                <a:spcPts val="5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t>  ✓  Stock unificato (online + store + B2B)</a:t>
            </a:r>
          </a:p>
          <a:p>
            <a:pPr>
              <a:spcBef>
                <a:spcPts val="5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t>  ✓  Click &amp; collect attivo</a:t>
            </a:r>
          </a:p>
          <a:p>
            <a:pPr>
              <a:spcBef>
                <a:spcPts val="5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t>  ✓  Ship-from-store attivo</a:t>
            </a:r>
          </a:p>
          <a:p>
            <a:pPr>
              <a:spcBef>
                <a:spcPts val="5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t>  ✓  Loyalty cross-channel</a:t>
            </a:r>
          </a:p>
          <a:p>
            <a:pPr>
              <a:spcBef>
                <a:spcPts val="5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t>  ✓  Profilo cliente unificato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Questo e il Problema #1. Tutto l'omnichannel dipende da risolverlo prima.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La decisione ERP da non rimandare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8F0"/>
                </a:solidFill>
                <a:latin typeface="Inter"/>
              </a:defRPr>
            </a:pPr>
            <a:r>
              <a:t>Dynamics NAV e fuori mainstream support su versioni pre-2018. La decisione arriva comunque — meglio prenderla con dati.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Opzione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148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Contro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Nota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514600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Migra a Business 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432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API moderne, cloud-native, supporto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7432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87171"/>
                </a:solidFill>
                <a:latin typeface="Inter"/>
              </a:defRPr>
            </a:pPr>
            <a:r>
              <a:t>6-18 mesi, migrazione dati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74320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Urgente valutare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39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BBF24"/>
                </a:solidFill>
                <a:latin typeface="Inter"/>
              </a:defRPr>
            </a:pPr>
            <a:r>
              <a:t>Resta su NAV + 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749039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Continuita, zero rischio migrazione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749039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87171"/>
                </a:solidFill>
                <a:latin typeface="Inter"/>
              </a:defRPr>
            </a:pPr>
            <a:r>
              <a:t>Lock-in crescente, API limitate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749039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Costo nascosto crescente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87171"/>
                </a:solidFill>
                <a:latin typeface="Inter"/>
              </a:defRPr>
            </a:pPr>
            <a:r>
              <a:t>Nuovo ERP (NetSuite/SAP B1)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7548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Liberta massima in futuro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7548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87171"/>
                </a:solidFill>
                <a:latin typeface="Inter"/>
              </a:defRPr>
            </a:pPr>
            <a:r>
              <a:t>Rischio altissimo a 70M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7548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Sconsigliato ora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Prima azione: Assessment NAV → Business Central nei primi 60 giorni. Non decidere a buio.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Il mio approccio: tre priorita in sequenza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661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D28D9"/>
                </a:solidFill>
                <a:latin typeface="Inter"/>
              </a:defRPr>
            </a:pPr>
            <a:r>
              <a:t>0-90 gg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Inter"/>
              </a:defRPr>
            </a:pPr>
            <a: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Audit stack: Shopify, NAV, CRM, WMS, POS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Integration map — dove i dati si rompono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Inventory sync Shopify ↔ NAV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Monitoring + alert (stop ai 500 silenziosi)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ADR per ogni decisione architetturale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Assessment NAV → Business Central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5661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CF6"/>
                </a:solidFill>
                <a:latin typeface="Inter"/>
              </a:defRPr>
            </a:pPr>
            <a:r>
              <a:t>90-180 gg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Inter"/>
              </a:defRPr>
            </a:pPr>
            <a:r>
              <a:t>OMNICHANNEL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889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Click &amp; collect su tutti i 14 store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Ship-from-store attivo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Loyalty VERABILIA cross-channel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Profilo cliente unificato (online + offline)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CI/CD pipeline strutturata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37360"/>
            <a:ext cx="35661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8745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78BFA"/>
                </a:solidFill>
                <a:latin typeface="Inter"/>
              </a:defRPr>
            </a:pPr>
            <a:r>
              <a:t>180-365 gg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Inter"/>
              </a:defRPr>
            </a:pPr>
            <a: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889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Multi-brand architecture (Veralab + Overskin)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CDP: dati aggregati da tutti i touchpoint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Migrazione ERP (se assessment lo conferma)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AI use case su dati unificati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Team building + governance stabile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A78BFA"/>
                </a:solidFill>
                <a:latin typeface="Inter"/>
              </a:defRPr>
            </a:pPr>
            <a:r>
              <a:t>Entry point: Tech Assessment 3gg (€2.500–3.500) → Fractional CTO 2gg/sett (€7.000–8.000/mese).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Match: il vostro contesto, la mia esperienza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VERALAB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A78BFA"/>
                </a:solidFill>
                <a:latin typeface="Inter"/>
              </a:defRPr>
            </a:pPr>
            <a:r>
              <a:t>ELIOS SCOGLIO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965960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Shopify + NAV + 14 store + 870 touchpoint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286000"/>
            <a:ext cx="82296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Integration architecture, middleware, API-first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700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Picchi traffico su lanci prodotto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852928"/>
            <a:ext cx="82296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26700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On-sale ad alto volume: spike, inventory contesa, checkout sotto pressione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3697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Inventory non unificato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419856"/>
            <a:ext cx="82296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323697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Real-time inventory sync su sistemi distribuiti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0390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Multi-brand Veralab + Overskin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986784"/>
            <a:ext cx="82296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380390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Multi-tenant con shared infra e domain separation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7083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Compliance GDPR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553712"/>
            <a:ext cx="82296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437083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GDPR quotidiano: PII, audit trail, data minimization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Team lean, scope enorme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5120640"/>
            <a:ext cx="82296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Cognitive load management, delivery cadenzata, ADR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5046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Nessun monitoring strutturato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5687568"/>
            <a:ext cx="82296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0" y="55046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Golden Signals, SLO, alert su ogni servizio critico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L'opportunita che la JD non cita: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8F0"/>
                </a:solidFill>
                <a:latin typeface="Inter"/>
              </a:defRPr>
            </a:pPr>
            <a:r>
              <a:t>Il brand ha gia la base per fare AI in modo serio — manca solo la foundation dati unificata.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A78BFA"/>
                </a:solidFill>
                <a:latin typeface="Inter"/>
              </a:defRPr>
            </a:pPr>
            <a:r>
              <a:t>ASSET DATI GIA PRESENTI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7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t>→  Skin diagnostic (Jebbit) = profilo cliente strutturato</a:t>
            </a:r>
          </a:p>
          <a:p>
            <a:pPr>
              <a:spcBef>
                <a:spcPts val="7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t>→  VERABILIA = storico acquisti + comportamento fedele</a:t>
            </a:r>
          </a:p>
          <a:p>
            <a:pPr>
              <a:spcBef>
                <a:spcPts val="7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t>→  Magazine = corpus contenuti per RAG</a:t>
            </a:r>
          </a:p>
          <a:p>
            <a:pPr>
              <a:spcBef>
                <a:spcPts val="7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t>→  14 store = dati comportamentali offline</a:t>
            </a:r>
          </a:p>
          <a:p>
            <a:pPr>
              <a:spcBef>
                <a:spcPts val="7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t>→  870 touchpoint = segnali di acquisto B2B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057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A78BFA"/>
                </a:solidFill>
                <a:latin typeface="Inter"/>
              </a:defRPr>
            </a:pPr>
            <a:r>
              <a:t>USE CASE AD ALTO ROI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423160"/>
            <a:ext cx="52120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24963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Recommendation personalizzata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86207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skin type + acquisti → +conversion +AOV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383280"/>
            <a:ext cx="52120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34564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Chatbot beauty expert 24/7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822191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RAG sulla KB prodotti → scalare le consulenze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343400"/>
            <a:ext cx="52120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44165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Segmentazione predittiva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78231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propensity Veralab→Overskin → revenue incrementale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A78BFA"/>
                </a:solidFill>
                <a:latin typeface="Inter"/>
              </a:defRPr>
            </a:pPr>
            <a:r>
              <a:t>"Il prerequisito è uno: dati unificati. Foundation prima — poi l'AI funziona davvero."</a:t>
            </a:r>
            <a:br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Il metodo: Misura, Decide, Esegui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56616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D28D9"/>
                </a:solidFill>
                <a:latin typeface="Inter"/>
              </a:defRPr>
            </a:pPr>
            <a:r>
              <a:t>MESE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76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Inter"/>
              </a:defRPr>
            </a:pPr>
            <a:r>
              <a:t>ASCOLTO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Non cambio niente in produzione.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Mappo lo stack completo (Shopify, NAV, CRM, WMS, POS, loyalty).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Trovo dove i dati si rompono tra sistemi.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Output: Tech Map + Roadmap 12 mesi prioritizzata.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56616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CF6"/>
                </a:solidFill>
                <a:latin typeface="Inter"/>
              </a:defRPr>
            </a:pPr>
            <a:r>
              <a:t>MESI 2-3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76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Inter"/>
              </a:defRPr>
            </a:pPr>
            <a:r>
              <a:t>PRIME AZIONI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Inventory sync Shopify ↔ NAV (primo mattone).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Monitoring + alert di base su Shopify.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ADR per le prime 5 decisioni architetturali.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Assessment NAV → Business Central.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91640"/>
            <a:ext cx="356616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78BFA"/>
                </a:solidFill>
                <a:latin typeface="Inter"/>
              </a:defRPr>
            </a:pPr>
            <a:r>
              <a:t>MESI 4-6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76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Inter"/>
              </a:defRPr>
            </a:pPr>
            <a:r>
              <a:t>OMNICHANNEL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974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Click &amp; collect attivo su tutti i 14 store.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Loyalty cross-channel VERABILIA.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Profilo cliente unificato online + offline.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CI/CD pipeline strutturata.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Prima misuro, poi prometto. I numeri vengono dalla baseline — non da questa presentazione.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Una cosa concreta — trovata prima di questo colloquio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691640"/>
            <a:ext cx="914400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87451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87171"/>
                </a:solidFill>
                <a:latin typeface="Inter"/>
              </a:defRPr>
            </a:pPr>
            <a:r>
              <a:t>PROBLEMA RILEVATO: HTTP 500 su Shopify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800"/>
              </a:spcBef>
              <a:defRPr sz="1500" b="0">
                <a:solidFill>
                  <a:srgbClr val="F87171"/>
                </a:solidFill>
                <a:latin typeface="Inter"/>
              </a:defRPr>
            </a:pPr>
            <a:r>
              <a:t>Endpoint coinvolti:  /blogs/news  —  API standard Shopify</a:t>
            </a:r>
          </a:p>
          <a:p>
            <a:pPr>
              <a:spcBef>
                <a:spcPts val="800"/>
              </a:spcBef>
              <a:defRPr sz="1500" b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800"/>
              </a:spcBef>
              <a:defRPr sz="1500" b="0">
                <a:solidFill>
                  <a:srgbClr val="E2E8F0"/>
                </a:solidFill>
                <a:latin typeface="Inter"/>
              </a:defRPr>
            </a:pPr>
            <a:r>
              <a:t>Causa probabile: conflitto tra app di terze parti o liquid template</a:t>
            </a:r>
          </a:p>
          <a:p>
            <a:pPr>
              <a:spcBef>
                <a:spcPts val="800"/>
              </a:spcBef>
              <a:defRPr sz="1500" b="0">
                <a:solidFill>
                  <a:srgbClr val="E2E8F0"/>
                </a:solidFill>
                <a:latin typeface="Inter"/>
              </a:defRPr>
            </a:pPr>
            <a:r>
              <a:t>Impatto: contenuti magazine non raggiungibili, API instabili</a:t>
            </a:r>
          </a:p>
          <a:p>
            <a:pPr>
              <a:spcBef>
                <a:spcPts val="800"/>
              </a:spcBef>
              <a:defRPr sz="1500" b="0">
                <a:solidFill>
                  <a:srgbClr val="E2E8F0"/>
                </a:solidFill>
                <a:latin typeface="Inter"/>
              </a:defRPr>
            </a:pPr>
            <a:r>
              <a:t>Monitoring attuale: probabilmente nessuno (nessun alert visibile)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BBF24"/>
                </a:solidFill>
                <a:latin typeface="Inter"/>
              </a:defRPr>
            </a:pPr>
            <a:r>
              <a:t>Non è un dipendente che lo trova in settimana 1. È un professionista che lo trova prima di scrivere.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406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8F0"/>
                </a:solidFill>
                <a:latin typeface="Inter"/>
              </a:defRPr>
            </a:pPr>
            <a:r>
              <a:t>Questo è il tipo di lavoro che faccio prima di firmare qualsiasi contratto.</a:t>
            </a:r>
            <a:br/>
            <a:r>
              <a:t>ma perche avere visibilita completa e il prerequisito di tutto il resto.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Tre domande che voglio fare a voi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8F0"/>
                </a:solidFill>
                <a:latin typeface="Inter"/>
              </a:defRPr>
            </a:pPr>
            <a:r>
              <a:t>Le risposte cambiano la priorita della roadmap. Le voglio capire oggi, non in un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31720"/>
            <a:ext cx="9966960" cy="114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2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6D28D9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423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Inter"/>
              </a:defRPr>
            </a:pPr>
            <a:r>
              <a:t>Come funziona oggi la sincronizzazione inventory tra Shopify e i 14 store?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9864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Questa risposta determina quanto e urgente e complessa la priority #1.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657600"/>
            <a:ext cx="9966960" cy="114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37490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8B5CF6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49039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Inter"/>
              </a:defRPr>
            </a:pPr>
            <a:r>
              <a:t>Overskin e sullo stesso account Shopify o e uno store separato?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22452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Cambia radicalmente l'architettura multi-brand e il data model del cliente.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983479"/>
            <a:ext cx="9966960" cy="114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50749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A78BFA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074919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Inter"/>
              </a:defRPr>
            </a:pPr>
            <a:r>
              <a:t>Chi ha preso le decisioni architetturali finora? Esiste un backlog tecnico?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550407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Determina il punto di partenza: costruire da zero o evolvere una direzione esistente.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Prossimo passo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691640"/>
            <a:ext cx="914400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8745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A78BFA"/>
                </a:solidFill>
                <a:latin typeface="Inter"/>
              </a:defRPr>
            </a:pPr>
            <a:r>
              <a:rPr dirty="0"/>
              <a:t>ENTRY POINT — TECH ASSESSMENT (3 </a:t>
            </a:r>
            <a:r>
              <a:rPr dirty="0" err="1"/>
              <a:t>giorni</a:t>
            </a:r>
            <a:r>
              <a:rPr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23160"/>
            <a:ext cx="8229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8F0"/>
                </a:solidFill>
                <a:latin typeface="Inter"/>
              </a:defRPr>
            </a:pPr>
            <a:endParaRPr dirty="0"/>
          </a:p>
          <a:p>
            <a:pPr>
              <a:spcBef>
                <a:spcPts val="900"/>
              </a:spcBef>
              <a:defRPr sz="1500" b="0">
                <a:solidFill>
                  <a:srgbClr val="E2E8F0"/>
                </a:solidFill>
                <a:latin typeface="Inter"/>
              </a:defRPr>
            </a:pPr>
            <a:r>
              <a:rPr dirty="0"/>
              <a:t>→  Output: Tech Map, integration map, top 5 </a:t>
            </a:r>
            <a:r>
              <a:rPr dirty="0" err="1"/>
              <a:t>rischi</a:t>
            </a:r>
            <a:r>
              <a:rPr dirty="0"/>
              <a:t>, </a:t>
            </a:r>
            <a:r>
              <a:rPr dirty="0" err="1"/>
              <a:t>decisione</a:t>
            </a:r>
            <a:r>
              <a:rPr dirty="0"/>
              <a:t> NAV→BC, roadmap 12 </a:t>
            </a:r>
            <a:r>
              <a:rPr dirty="0" err="1"/>
              <a:t>mesi</a:t>
            </a:r>
            <a:endParaRPr dirty="0"/>
          </a:p>
          <a:p>
            <a:pPr>
              <a:spcBef>
                <a:spcPts val="900"/>
              </a:spcBef>
              <a:defRPr sz="1500" b="0">
                <a:solidFill>
                  <a:srgbClr val="E2E8F0"/>
                </a:solidFill>
                <a:latin typeface="Inter"/>
              </a:defRPr>
            </a:pPr>
            <a:r>
              <a:rPr dirty="0"/>
              <a:t>→  Costo: €2.500–3.500 — </a:t>
            </a:r>
            <a:r>
              <a:rPr dirty="0" err="1"/>
              <a:t>detratto</a:t>
            </a:r>
            <a:r>
              <a:rPr dirty="0"/>
              <a:t> dal primo mese se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prosegue</a:t>
            </a:r>
            <a:r>
              <a:rPr dirty="0"/>
              <a:t> come Fractional CTO</a:t>
            </a:r>
          </a:p>
          <a:p>
            <a:pPr>
              <a:spcBef>
                <a:spcPts val="900"/>
              </a:spcBef>
              <a:defRPr sz="1500" b="0">
                <a:solidFill>
                  <a:srgbClr val="E2E8F0"/>
                </a:solidFill>
                <a:latin typeface="Inter"/>
              </a:defRPr>
            </a:pPr>
            <a:r>
              <a:rPr dirty="0"/>
              <a:t>→  Se non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prosegue</a:t>
            </a:r>
            <a:r>
              <a:rPr dirty="0"/>
              <a:t>: </a:t>
            </a:r>
            <a:r>
              <a:rPr dirty="0" err="1"/>
              <a:t>avete</a:t>
            </a:r>
            <a:r>
              <a:rPr dirty="0"/>
              <a:t> </a:t>
            </a:r>
            <a:r>
              <a:rPr dirty="0" err="1"/>
              <a:t>comunque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roadmap </a:t>
            </a:r>
            <a:r>
              <a:rPr dirty="0" err="1"/>
              <a:t>verificabile</a:t>
            </a:r>
            <a:r>
              <a:rPr dirty="0"/>
              <a:t>. Zero </a:t>
            </a:r>
            <a:r>
              <a:rPr dirty="0" err="1"/>
              <a:t>rischio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A78BFA"/>
                </a:solidFill>
                <a:latin typeface="Inter"/>
              </a:defRPr>
            </a:pPr>
            <a:r>
              <a:rPr dirty="0"/>
              <a:t>"Non mi </a:t>
            </a:r>
            <a:r>
              <a:rPr dirty="0" err="1"/>
              <a:t>propongo</a:t>
            </a:r>
            <a:r>
              <a:rPr dirty="0"/>
              <a:t> come </a:t>
            </a:r>
            <a:r>
              <a:rPr dirty="0" err="1"/>
              <a:t>candidato</a:t>
            </a:r>
            <a:r>
              <a:rPr dirty="0"/>
              <a:t>.</a:t>
            </a:r>
            <a:br>
              <a:rPr dirty="0"/>
            </a:br>
            <a:r>
              <a:rPr dirty="0"/>
              <a:t>Mi </a:t>
            </a:r>
            <a:r>
              <a:rPr dirty="0" err="1"/>
              <a:t>propongo</a:t>
            </a:r>
            <a:r>
              <a:rPr dirty="0"/>
              <a:t> come Fractional CTO — </a:t>
            </a:r>
            <a:r>
              <a:rPr lang="it-IT" dirty="0"/>
              <a:t>3</a:t>
            </a:r>
            <a:r>
              <a:rPr dirty="0"/>
              <a:t> </a:t>
            </a:r>
            <a:r>
              <a:rPr dirty="0" err="1"/>
              <a:t>giorni</a:t>
            </a:r>
            <a:r>
              <a:rPr dirty="0"/>
              <a:t> a </a:t>
            </a:r>
            <a:r>
              <a:rPr dirty="0" err="1"/>
              <a:t>settimana</a:t>
            </a:r>
            <a:r>
              <a:rPr dirty="0"/>
              <a:t>, </a:t>
            </a:r>
            <a:r>
              <a:rPr dirty="0" err="1"/>
              <a:t>obiettivi</a:t>
            </a:r>
            <a:r>
              <a:rPr dirty="0"/>
              <a:t> </a:t>
            </a:r>
            <a:r>
              <a:rPr dirty="0" err="1"/>
              <a:t>misurabili</a:t>
            </a:r>
            <a:r>
              <a:rPr dirty="0"/>
              <a:t>, </a:t>
            </a:r>
            <a:r>
              <a:rPr dirty="0" err="1"/>
              <a:t>contratto</a:t>
            </a:r>
            <a:r>
              <a:rPr dirty="0"/>
              <a:t> da </a:t>
            </a:r>
            <a:r>
              <a:rPr dirty="0" err="1"/>
              <a:t>consulente</a:t>
            </a:r>
            <a:r>
              <a:rPr dirty="0"/>
              <a:t>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E2E8F0"/>
                </a:solidFill>
                <a:latin typeface="Inter"/>
              </a:defRPr>
            </a:pPr>
            <a:r>
              <a:t>"Il primo mese ascolto. Dal secondo, i numeri parlano — non le slide."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Elios Scoglio  |  elios@108vision.it  |  108vision.it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1510</Words>
  <Application>Microsoft Office PowerPoint</Application>
  <PresentationFormat>Widescreen</PresentationFormat>
  <Paragraphs>234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Scoglio, Elios</cp:lastModifiedBy>
  <cp:revision>2</cp:revision>
  <dcterms:created xsi:type="dcterms:W3CDTF">2013-01-27T09:14:16Z</dcterms:created>
  <dcterms:modified xsi:type="dcterms:W3CDTF">2026-07-15T07:12:34Z</dcterms:modified>
  <cp:category/>
</cp:coreProperties>
</file>